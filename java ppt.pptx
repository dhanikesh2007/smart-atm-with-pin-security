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1" r:id="rId19"/>
  </p:sldIdLst>
  <p:sldSz cx="9144000" cy="5143500" type="screen16x9"/>
  <p:notesSz cx="6797675" cy="9926638"/>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EA33CD-58C2-49FC-AD3D-25FD9040B2E3}" v="11" dt="2025-11-20T15:58:10.983"/>
  </p1510:revLst>
</p1510:revInfo>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061F6FC2-9645-479A-A309-27B8F5654211}" type="datetimeFigureOut">
              <a:rPr lang="en-US"/>
              <a:pPr>
                <a:defRPr/>
              </a:pPr>
              <a:t>11/22/2025</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F2D8CC3F-ADB2-4AF7-880C-111F7E6C7FE6}" type="slidenum">
              <a:rPr lang="en-US" altLang="en-US"/>
              <a:pPr>
                <a:defRPr/>
              </a:pPr>
              <a:t>‹#›</a:t>
            </a:fld>
            <a:endParaRPr lang="en-US" altLang="en-US"/>
          </a:p>
        </p:txBody>
      </p:sp>
    </p:spTree>
    <p:extLst>
      <p:ext uri="{BB962C8B-B14F-4D97-AF65-F5344CB8AC3E}">
        <p14:creationId xmlns:p14="http://schemas.microsoft.com/office/powerpoint/2010/main" val="27302645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2914650"/>
            <a:ext cx="6858000" cy="74295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3843338"/>
            <a:ext cx="6858000" cy="40005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4766310"/>
            <a:ext cx="2286000" cy="274320"/>
          </a:xfrm>
        </p:spPr>
        <p:txBody>
          <a:bodyPr/>
          <a:lstStyle>
            <a:lvl1pPr>
              <a:defRPr sz="1400"/>
            </a:lvl1pPr>
          </a:lstStyle>
          <a:p>
            <a:pPr>
              <a:defRPr/>
            </a:pPr>
            <a:fld id="{EDD62464-91D3-48B5-AF18-AC74D9BF9633}" type="datetime3">
              <a:rPr lang="en-US" smtClean="0"/>
              <a:t>22 November 2025</a:t>
            </a:fld>
            <a:endParaRPr lang="en-US" dirty="0"/>
          </a:p>
        </p:txBody>
      </p:sp>
      <p:sp>
        <p:nvSpPr>
          <p:cNvPr id="17" name="Footer Placeholder 16"/>
          <p:cNvSpPr>
            <a:spLocks noGrp="1"/>
          </p:cNvSpPr>
          <p:nvPr>
            <p:ph type="ftr" sz="quarter" idx="11"/>
          </p:nvPr>
        </p:nvSpPr>
        <p:spPr>
          <a:xfrm>
            <a:off x="2898648" y="4766310"/>
            <a:ext cx="3474720" cy="274320"/>
          </a:xfrm>
        </p:spPr>
        <p:txBody>
          <a:bodyPr/>
          <a:lstStyle/>
          <a:p>
            <a:pPr>
              <a:defRPr/>
            </a:pPr>
            <a:r>
              <a:rPr lang="en-US"/>
              <a:t>EGB1201 – JAVA PROGRAMMING –PROJECT REVIEW 2 </a:t>
            </a:r>
            <a:endParaRPr lang="en-US" dirty="0"/>
          </a:p>
        </p:txBody>
      </p:sp>
      <p:sp>
        <p:nvSpPr>
          <p:cNvPr id="29" name="Slide Number Placeholder 28"/>
          <p:cNvSpPr>
            <a:spLocks noGrp="1"/>
          </p:cNvSpPr>
          <p:nvPr>
            <p:ph type="sldNum" sz="quarter" idx="12"/>
          </p:nvPr>
        </p:nvSpPr>
        <p:spPr>
          <a:xfrm>
            <a:off x="1216152" y="4766310"/>
            <a:ext cx="1219200" cy="274320"/>
          </a:xfrm>
        </p:spPr>
        <p:txBody>
          <a:bodyPr/>
          <a:lstStyle/>
          <a:p>
            <a:pPr>
              <a:defRPr/>
            </a:pPr>
            <a:fld id="{C0A8E10E-36D1-42AB-939C-34BEB33CD9E4}" type="slidenum">
              <a:rPr lang="en-US" altLang="en-US" smtClean="0"/>
              <a:pPr>
                <a:defRPr/>
              </a:pPr>
              <a:t>‹#›</a:t>
            </a:fld>
            <a:endParaRPr lang="en-US" altLang="en-US"/>
          </a:p>
        </p:txBody>
      </p:sp>
      <p:sp>
        <p:nvSpPr>
          <p:cNvPr id="21" name="Rectangle 20"/>
          <p:cNvSpPr/>
          <p:nvPr/>
        </p:nvSpPr>
        <p:spPr>
          <a:xfrm>
            <a:off x="904875" y="2736056"/>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3786188"/>
            <a:ext cx="7315200" cy="51435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2736056"/>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3786188"/>
            <a:ext cx="228600" cy="51435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a:defRPr/>
            </a:pPr>
            <a:fld id="{B6A9C998-94AD-4592-8E0C-5C5705351BB2}" type="datetime3">
              <a:rPr lang="en-US" smtClean="0"/>
              <a:t>22 November 2025</a:t>
            </a:fld>
            <a:endParaRPr lang="en-US" dirty="0"/>
          </a:p>
        </p:txBody>
      </p:sp>
      <p:sp>
        <p:nvSpPr>
          <p:cNvPr id="5" name="Footer Placeholder 4"/>
          <p:cNvSpPr>
            <a:spLocks noGrp="1"/>
          </p:cNvSpPr>
          <p:nvPr>
            <p:ph type="ftr" sz="quarter" idx="11"/>
          </p:nvPr>
        </p:nvSpPr>
        <p:spPr/>
        <p:txBody>
          <a:bodyPr/>
          <a:lstStyle/>
          <a:p>
            <a:pPr>
              <a:defRPr/>
            </a:pPr>
            <a:r>
              <a:rPr lang="en-US"/>
              <a:t>EGB1201 – JAVA PROGRAMMING –PROJECT REVIEW 2 </a:t>
            </a:r>
            <a:endParaRPr lang="en-US" dirty="0"/>
          </a:p>
        </p:txBody>
      </p:sp>
      <p:sp>
        <p:nvSpPr>
          <p:cNvPr id="6" name="Slide Number Placeholder 5"/>
          <p:cNvSpPr>
            <a:spLocks noGrp="1"/>
          </p:cNvSpPr>
          <p:nvPr>
            <p:ph type="sldNum" sz="quarter" idx="12"/>
          </p:nvPr>
        </p:nvSpPr>
        <p:spPr/>
        <p:txBody>
          <a:bodyPr/>
          <a:lstStyle/>
          <a:p>
            <a:pPr>
              <a:defRPr/>
            </a:pPr>
            <a:fld id="{0E14ABD8-B1EB-4C07-9937-C8C4E38BDF00}" type="slidenum">
              <a:rPr lang="en-US" altLang="en-US" smtClean="0"/>
              <a:pPr>
                <a:defRPr/>
              </a:pPr>
              <a:t>‹#›</a:t>
            </a:fld>
            <a:endParaRPr lang="en-US" altLang="en-US"/>
          </a:p>
        </p:txBody>
      </p:sp>
      <p:sp>
        <p:nvSpPr>
          <p:cNvPr id="8" name="Content Placeholder 7"/>
          <p:cNvSpPr>
            <a:spLocks noGrp="1"/>
          </p:cNvSpPr>
          <p:nvPr>
            <p:ph sz="quarter" idx="1"/>
          </p:nvPr>
        </p:nvSpPr>
        <p:spPr>
          <a:xfrm>
            <a:off x="457200" y="914400"/>
            <a:ext cx="8229600"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228850"/>
            <a:ext cx="6858000" cy="8001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3200400"/>
            <a:ext cx="6781800" cy="85725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4766310"/>
            <a:ext cx="2286000" cy="274320"/>
          </a:xfrm>
        </p:spPr>
        <p:txBody>
          <a:bodyPr/>
          <a:lstStyle/>
          <a:p>
            <a:pPr>
              <a:defRPr/>
            </a:pPr>
            <a:fld id="{E8339EB3-ACA5-47FD-8BD1-3F380C79EF14}" type="datetime3">
              <a:rPr lang="en-US" smtClean="0"/>
              <a:t>22 November 2025</a:t>
            </a:fld>
            <a:endParaRPr lang="en-US" dirty="0"/>
          </a:p>
        </p:txBody>
      </p:sp>
      <p:sp>
        <p:nvSpPr>
          <p:cNvPr id="5" name="Footer Placeholder 4"/>
          <p:cNvSpPr>
            <a:spLocks noGrp="1"/>
          </p:cNvSpPr>
          <p:nvPr>
            <p:ph type="ftr" sz="quarter" idx="11"/>
          </p:nvPr>
        </p:nvSpPr>
        <p:spPr>
          <a:xfrm>
            <a:off x="2898648" y="4766310"/>
            <a:ext cx="3474720" cy="274320"/>
          </a:xfrm>
        </p:spPr>
        <p:txBody>
          <a:bodyPr/>
          <a:lstStyle/>
          <a:p>
            <a:pPr>
              <a:defRPr/>
            </a:pPr>
            <a:r>
              <a:rPr lang="en-US"/>
              <a:t>EGB1201 – JAVA PROGRAMMING –PROJECT REVIEW 2 </a:t>
            </a:r>
            <a:endParaRPr lang="en-US" dirty="0"/>
          </a:p>
        </p:txBody>
      </p:sp>
      <p:sp>
        <p:nvSpPr>
          <p:cNvPr id="6" name="Slide Number Placeholder 5"/>
          <p:cNvSpPr>
            <a:spLocks noGrp="1"/>
          </p:cNvSpPr>
          <p:nvPr>
            <p:ph type="sldNum" sz="quarter" idx="12"/>
          </p:nvPr>
        </p:nvSpPr>
        <p:spPr>
          <a:xfrm>
            <a:off x="1069848" y="4766310"/>
            <a:ext cx="1520952" cy="274320"/>
          </a:xfrm>
        </p:spPr>
        <p:txBody>
          <a:bodyPr/>
          <a:lstStyle/>
          <a:p>
            <a:pPr>
              <a:defRPr/>
            </a:pPr>
            <a:fld id="{BEE0AD74-942B-45F6-8EEE-203197083F56}" type="slidenum">
              <a:rPr lang="en-US" altLang="en-US" smtClean="0"/>
              <a:pPr>
                <a:defRPr/>
              </a:pPr>
              <a:t>‹#›</a:t>
            </a:fld>
            <a:endParaRPr lang="en-US" altLang="en-US"/>
          </a:p>
        </p:txBody>
      </p:sp>
      <p:sp>
        <p:nvSpPr>
          <p:cNvPr id="7" name="Rectangle 6"/>
          <p:cNvSpPr/>
          <p:nvPr/>
        </p:nvSpPr>
        <p:spPr>
          <a:xfrm>
            <a:off x="914400" y="2114550"/>
            <a:ext cx="7315200" cy="96012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114550"/>
            <a:ext cx="228600" cy="96012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a:defRPr/>
            </a:pPr>
            <a:fld id="{EB3BC824-8250-46A4-97E9-1A69B2F2FB25}" type="datetime3">
              <a:rPr lang="en-US" smtClean="0"/>
              <a:t>22 November 2025</a:t>
            </a:fld>
            <a:endParaRPr lang="en-US" dirty="0"/>
          </a:p>
        </p:txBody>
      </p:sp>
      <p:sp>
        <p:nvSpPr>
          <p:cNvPr id="6" name="Footer Placeholder 5"/>
          <p:cNvSpPr>
            <a:spLocks noGrp="1"/>
          </p:cNvSpPr>
          <p:nvPr>
            <p:ph type="ftr" sz="quarter" idx="11"/>
          </p:nvPr>
        </p:nvSpPr>
        <p:spPr/>
        <p:txBody>
          <a:bodyPr/>
          <a:lstStyle/>
          <a:p>
            <a:pPr>
              <a:defRPr/>
            </a:pPr>
            <a:r>
              <a:rPr lang="en-US"/>
              <a:t>EGB1201 – JAVA PROGRAMMING –PROJECT REVIEW 2 </a:t>
            </a:r>
            <a:endParaRPr lang="en-US" dirty="0"/>
          </a:p>
        </p:txBody>
      </p:sp>
      <p:sp>
        <p:nvSpPr>
          <p:cNvPr id="7" name="Slide Number Placeholder 6"/>
          <p:cNvSpPr>
            <a:spLocks noGrp="1"/>
          </p:cNvSpPr>
          <p:nvPr>
            <p:ph type="sldNum" sz="quarter" idx="12"/>
          </p:nvPr>
        </p:nvSpPr>
        <p:spPr/>
        <p:txBody>
          <a:bodyPr/>
          <a:lstStyle/>
          <a:p>
            <a:pPr>
              <a:defRPr/>
            </a:pPr>
            <a:fld id="{DB554FDC-F986-4516-81A3-5CBC9634E9C1}" type="slidenum">
              <a:rPr lang="en-US" altLang="en-US" smtClean="0"/>
              <a:pPr>
                <a:defRPr/>
              </a:pPr>
              <a:t>‹#›</a:t>
            </a:fld>
            <a:endParaRPr lang="en-US" altLang="en-US"/>
          </a:p>
        </p:txBody>
      </p:sp>
      <p:sp>
        <p:nvSpPr>
          <p:cNvPr id="9" name="Content Placeholder 8"/>
          <p:cNvSpPr>
            <a:spLocks noGrp="1"/>
          </p:cNvSpPr>
          <p:nvPr>
            <p:ph sz="quarter" idx="1"/>
          </p:nvPr>
        </p:nvSpPr>
        <p:spPr>
          <a:xfrm>
            <a:off x="457200" y="914400"/>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912114"/>
            <a:ext cx="4041648" cy="37033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964406"/>
            <a:ext cx="4040188" cy="51435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971550"/>
            <a:ext cx="4041775" cy="51435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a:defRPr/>
            </a:pPr>
            <a:fld id="{1D371F4A-15B0-4739-9C96-5151473761C3}" type="datetime3">
              <a:rPr lang="en-US" smtClean="0"/>
              <a:t>22 November 2025</a:t>
            </a:fld>
            <a:endParaRPr lang="en-US" dirty="0"/>
          </a:p>
        </p:txBody>
      </p:sp>
      <p:sp>
        <p:nvSpPr>
          <p:cNvPr id="8" name="Footer Placeholder 7"/>
          <p:cNvSpPr>
            <a:spLocks noGrp="1"/>
          </p:cNvSpPr>
          <p:nvPr>
            <p:ph type="ftr" sz="quarter" idx="11"/>
          </p:nvPr>
        </p:nvSpPr>
        <p:spPr/>
        <p:txBody>
          <a:bodyPr/>
          <a:lstStyle/>
          <a:p>
            <a:pPr>
              <a:defRPr/>
            </a:pPr>
            <a:r>
              <a:rPr lang="en-US"/>
              <a:t>EGB1201 – JAVA PROGRAMMING –PROJECT REVIEW 2 </a:t>
            </a:r>
            <a:endParaRPr lang="en-US" dirty="0"/>
          </a:p>
        </p:txBody>
      </p:sp>
      <p:sp>
        <p:nvSpPr>
          <p:cNvPr id="9" name="Slide Number Placeholder 8"/>
          <p:cNvSpPr>
            <a:spLocks noGrp="1"/>
          </p:cNvSpPr>
          <p:nvPr>
            <p:ph type="sldNum" sz="quarter" idx="12"/>
          </p:nvPr>
        </p:nvSpPr>
        <p:spPr/>
        <p:txBody>
          <a:bodyPr/>
          <a:lstStyle/>
          <a:p>
            <a:pPr>
              <a:defRPr/>
            </a:pPr>
            <a:fld id="{02A63921-D0A8-45BD-ADF0-24CC5F135FEC}" type="slidenum">
              <a:rPr lang="en-US" altLang="en-US" smtClean="0"/>
              <a:pPr>
                <a:defRPr/>
              </a:pPr>
              <a:t>‹#›</a:t>
            </a:fld>
            <a:endParaRPr lang="en-US" altLang="en-US"/>
          </a:p>
        </p:txBody>
      </p:sp>
      <p:sp>
        <p:nvSpPr>
          <p:cNvPr id="11" name="Content Placeholder 10"/>
          <p:cNvSpPr>
            <a:spLocks noGrp="1"/>
          </p:cNvSpPr>
          <p:nvPr>
            <p:ph sz="quarter" idx="2"/>
          </p:nvPr>
        </p:nvSpPr>
        <p:spPr>
          <a:xfrm>
            <a:off x="457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1600200"/>
            <a:ext cx="4038600" cy="30289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8229600" cy="6858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fld id="{66B05E16-91CD-4D24-9E72-745C6AD013E1}" type="datetime3">
              <a:rPr lang="en-US" smtClean="0"/>
              <a:t>22 November 2025</a:t>
            </a:fld>
            <a:endParaRPr lang="en-US" dirty="0"/>
          </a:p>
        </p:txBody>
      </p:sp>
      <p:sp>
        <p:nvSpPr>
          <p:cNvPr id="4" name="Footer Placeholder 3"/>
          <p:cNvSpPr>
            <a:spLocks noGrp="1"/>
          </p:cNvSpPr>
          <p:nvPr>
            <p:ph type="ftr" sz="quarter" idx="11"/>
          </p:nvPr>
        </p:nvSpPr>
        <p:spPr/>
        <p:txBody>
          <a:bodyPr/>
          <a:lstStyle/>
          <a:p>
            <a:pPr>
              <a:defRPr/>
            </a:pPr>
            <a:r>
              <a:rPr lang="en-US"/>
              <a:t>EGB1201 – JAVA PROGRAMMING –PROJECT REVIEW 2 </a:t>
            </a:r>
            <a:endParaRPr lang="en-US" dirty="0"/>
          </a:p>
        </p:txBody>
      </p:sp>
      <p:sp>
        <p:nvSpPr>
          <p:cNvPr id="5" name="Slide Number Placeholder 4"/>
          <p:cNvSpPr>
            <a:spLocks noGrp="1"/>
          </p:cNvSpPr>
          <p:nvPr>
            <p:ph type="sldNum" sz="quarter" idx="12"/>
          </p:nvPr>
        </p:nvSpPr>
        <p:spPr/>
        <p:txBody>
          <a:bodyPr/>
          <a:lstStyle/>
          <a:p>
            <a:pPr>
              <a:defRPr/>
            </a:pPr>
            <a:fld id="{4CE540F1-D866-4735-9E65-A1952EADD02D}" type="slidenum">
              <a:rPr lang="en-US" altLang="en-US" smtClean="0"/>
              <a:pPr>
                <a:defRPr/>
              </a:pPr>
              <a:t>‹#›</a:t>
            </a:fld>
            <a:endParaRPr lang="en-US" alt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45D060A-EFD9-4B22-932C-C42B599DBAF2}" type="datetime3">
              <a:rPr lang="en-US" smtClean="0"/>
              <a:t>22 November 2025</a:t>
            </a:fld>
            <a:endParaRPr lang="en-US" dirty="0"/>
          </a:p>
        </p:txBody>
      </p:sp>
      <p:sp>
        <p:nvSpPr>
          <p:cNvPr id="3" name="Footer Placeholder 2"/>
          <p:cNvSpPr>
            <a:spLocks noGrp="1"/>
          </p:cNvSpPr>
          <p:nvPr>
            <p:ph type="ftr" sz="quarter" idx="11"/>
          </p:nvPr>
        </p:nvSpPr>
        <p:spPr/>
        <p:txBody>
          <a:bodyPr/>
          <a:lstStyle/>
          <a:p>
            <a:pPr>
              <a:defRPr/>
            </a:pPr>
            <a:r>
              <a:rPr lang="en-US"/>
              <a:t>EGB1201 – JAVA PROGRAMMING –PROJECT REVIEW 2 </a:t>
            </a:r>
            <a:endParaRPr lang="en-US" dirty="0"/>
          </a:p>
        </p:txBody>
      </p:sp>
      <p:sp>
        <p:nvSpPr>
          <p:cNvPr id="4" name="Slide Number Placeholder 3"/>
          <p:cNvSpPr>
            <a:spLocks noGrp="1"/>
          </p:cNvSpPr>
          <p:nvPr>
            <p:ph type="sldNum" sz="quarter" idx="12"/>
          </p:nvPr>
        </p:nvSpPr>
        <p:spPr/>
        <p:txBody>
          <a:bodyPr/>
          <a:lstStyle/>
          <a:p>
            <a:pPr>
              <a:defRPr/>
            </a:pPr>
            <a:fld id="{2571F5BB-190B-45BA-B754-2541F8CA6F46}" type="slidenum">
              <a:rPr lang="en-US" altLang="en-US" smtClean="0"/>
              <a:pPr>
                <a:defRPr/>
              </a:pPr>
              <a:t>‹#›</a:t>
            </a:fld>
            <a:endParaRPr lang="en-US" altLang="en-US"/>
          </a:p>
        </p:txBody>
      </p:sp>
      <p:sp>
        <p:nvSpPr>
          <p:cNvPr id="5" name="Straight Connector 4"/>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228600"/>
            <a:ext cx="2514600" cy="62865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914401"/>
            <a:ext cx="2514600" cy="3632597"/>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60C5E58A-366D-42D7-BE35-2A21803AE55F}" type="datetime3">
              <a:rPr lang="en-US" smtClean="0"/>
              <a:t>22 November 2025</a:t>
            </a:fld>
            <a:endParaRPr lang="en-US" dirty="0"/>
          </a:p>
        </p:txBody>
      </p:sp>
      <p:sp>
        <p:nvSpPr>
          <p:cNvPr id="6" name="Footer Placeholder 5"/>
          <p:cNvSpPr>
            <a:spLocks noGrp="1"/>
          </p:cNvSpPr>
          <p:nvPr>
            <p:ph type="ftr" sz="quarter" idx="11"/>
          </p:nvPr>
        </p:nvSpPr>
        <p:spPr/>
        <p:txBody>
          <a:bodyPr/>
          <a:lstStyle/>
          <a:p>
            <a:pPr>
              <a:defRPr/>
            </a:pPr>
            <a:r>
              <a:rPr lang="en-US"/>
              <a:t>EGB1201 – JAVA PROGRAMMING –PROJECT REVIEW 2 </a:t>
            </a:r>
            <a:endParaRPr lang="en-US" dirty="0"/>
          </a:p>
        </p:txBody>
      </p:sp>
      <p:sp>
        <p:nvSpPr>
          <p:cNvPr id="7" name="Slide Number Placeholder 6"/>
          <p:cNvSpPr>
            <a:spLocks noGrp="1"/>
          </p:cNvSpPr>
          <p:nvPr>
            <p:ph type="sldNum" sz="quarter" idx="12"/>
          </p:nvPr>
        </p:nvSpPr>
        <p:spPr/>
        <p:txBody>
          <a:bodyPr/>
          <a:lstStyle/>
          <a:p>
            <a:pPr>
              <a:defRPr/>
            </a:pPr>
            <a:fld id="{4B3D1EAA-7E8D-49EA-BCBB-3C5BA424400D}" type="slidenum">
              <a:rPr lang="en-US" altLang="en-US" smtClean="0"/>
              <a:pPr>
                <a:defRPr/>
              </a:pPr>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915025" y="2493169"/>
            <a:ext cx="452628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228600"/>
            <a:ext cx="5715000" cy="428625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375642"/>
            <a:ext cx="8229600" cy="506016"/>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428750"/>
            <a:ext cx="8229600" cy="3202686"/>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914400"/>
            <a:ext cx="8229600" cy="40005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fld id="{99D38484-2184-434F-AC88-29FFE4A0AA9F}" type="datetime3">
              <a:rPr lang="en-US" smtClean="0"/>
              <a:t>22 November 2025</a:t>
            </a:fld>
            <a:endParaRPr lang="en-US" dirty="0"/>
          </a:p>
        </p:txBody>
      </p:sp>
      <p:sp>
        <p:nvSpPr>
          <p:cNvPr id="6" name="Footer Placeholder 5"/>
          <p:cNvSpPr>
            <a:spLocks noGrp="1"/>
          </p:cNvSpPr>
          <p:nvPr>
            <p:ph type="ftr" sz="quarter" idx="11"/>
          </p:nvPr>
        </p:nvSpPr>
        <p:spPr/>
        <p:txBody>
          <a:bodyPr/>
          <a:lstStyle/>
          <a:p>
            <a:pPr>
              <a:defRPr/>
            </a:pPr>
            <a:r>
              <a:rPr lang="en-US"/>
              <a:t>EGB1201 – JAVA PROGRAMMING –PROJECT REVIEW 2 </a:t>
            </a:r>
            <a:endParaRPr lang="en-US" dirty="0"/>
          </a:p>
        </p:txBody>
      </p:sp>
      <p:sp>
        <p:nvSpPr>
          <p:cNvPr id="7" name="Slide Number Placeholder 6"/>
          <p:cNvSpPr>
            <a:spLocks noGrp="1"/>
          </p:cNvSpPr>
          <p:nvPr>
            <p:ph type="sldNum" sz="quarter" idx="12"/>
          </p:nvPr>
        </p:nvSpPr>
        <p:spPr/>
        <p:txBody>
          <a:bodyPr/>
          <a:lstStyle/>
          <a:p>
            <a:pPr>
              <a:defRPr/>
            </a:pPr>
            <a:fld id="{7B93E55C-A662-4067-BE20-A4D82E579A38}" type="slidenum">
              <a:rPr lang="en-US" altLang="en-US" smtClean="0"/>
              <a:pPr>
                <a:defRPr/>
              </a:pPr>
              <a:t>‹#›</a:t>
            </a:fld>
            <a:endParaRPr lang="en-US" altLang="en-US"/>
          </a:p>
        </p:txBody>
      </p:sp>
      <p:sp>
        <p:nvSpPr>
          <p:cNvPr id="8" name="Straight Connector 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375642"/>
            <a:ext cx="182880" cy="51435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539A3B33-C0B7-41A2-B02D-6B795B806535}" type="datetime3">
              <a:rPr lang="en-US" smtClean="0"/>
              <a:t>22 November 2025</a:t>
            </a:fld>
            <a:endParaRPr lang="en-US" dirty="0"/>
          </a:p>
        </p:txBody>
      </p:sp>
      <p:sp>
        <p:nvSpPr>
          <p:cNvPr id="5" name="Footer Placeholder 4"/>
          <p:cNvSpPr>
            <a:spLocks noGrp="1"/>
          </p:cNvSpPr>
          <p:nvPr>
            <p:ph type="ftr" sz="quarter" idx="11"/>
          </p:nvPr>
        </p:nvSpPr>
        <p:spPr/>
        <p:txBody>
          <a:bodyPr/>
          <a:lstStyle/>
          <a:p>
            <a:pPr>
              <a:defRPr/>
            </a:pPr>
            <a:r>
              <a:rPr lang="en-US"/>
              <a:t>EGB1201 – JAVA PROGRAMMING –PROJECT REVIEW 2 </a:t>
            </a:r>
            <a:endParaRPr lang="en-US" dirty="0"/>
          </a:p>
        </p:txBody>
      </p:sp>
      <p:sp>
        <p:nvSpPr>
          <p:cNvPr id="6" name="Slide Number Placeholder 5"/>
          <p:cNvSpPr>
            <a:spLocks noGrp="1"/>
          </p:cNvSpPr>
          <p:nvPr>
            <p:ph type="sldNum" sz="quarter" idx="12"/>
          </p:nvPr>
        </p:nvSpPr>
        <p:spPr/>
        <p:txBody>
          <a:bodyPr/>
          <a:lstStyle/>
          <a:p>
            <a:pPr>
              <a:defRPr/>
            </a:pPr>
            <a:fld id="{9A0C11DA-FA02-4E33-93FC-C378FAF95FBA}" type="slidenum">
              <a:rPr lang="en-US" altLang="en-US" smtClean="0"/>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11E726FA-2B63-4917-AB28-C983D9D4464F}" type="datetime3">
              <a:rPr lang="en-US" smtClean="0"/>
              <a:t>22 November 2025</a:t>
            </a:fld>
            <a:endParaRPr lang="en-US" dirty="0"/>
          </a:p>
        </p:txBody>
      </p:sp>
      <p:sp>
        <p:nvSpPr>
          <p:cNvPr id="5" name="Footer Placeholder 4"/>
          <p:cNvSpPr>
            <a:spLocks noGrp="1"/>
          </p:cNvSpPr>
          <p:nvPr>
            <p:ph type="ftr" sz="quarter" idx="11"/>
          </p:nvPr>
        </p:nvSpPr>
        <p:spPr/>
        <p:txBody>
          <a:bodyPr/>
          <a:lstStyle/>
          <a:p>
            <a:pPr>
              <a:defRPr/>
            </a:pPr>
            <a:r>
              <a:rPr lang="en-US"/>
              <a:t>EGB1201 – JAVA PROGRAMMING –PROJECT REVIEW 2 </a:t>
            </a:r>
            <a:endParaRPr lang="en-US" dirty="0"/>
          </a:p>
        </p:txBody>
      </p:sp>
      <p:sp>
        <p:nvSpPr>
          <p:cNvPr id="6" name="Slide Number Placeholder 5"/>
          <p:cNvSpPr>
            <a:spLocks noGrp="1"/>
          </p:cNvSpPr>
          <p:nvPr>
            <p:ph type="sldNum" sz="quarter" idx="12"/>
          </p:nvPr>
        </p:nvSpPr>
        <p:spPr/>
        <p:txBody>
          <a:bodyPr/>
          <a:lstStyle/>
          <a:p>
            <a:pPr>
              <a:defRPr/>
            </a:pPr>
            <a:fld id="{B1E085C4-C07B-4C80-B337-90438D59D3CD}" type="slidenum">
              <a:rPr lang="en-US" altLang="en-US" smtClean="0"/>
              <a:pPr>
                <a:defRPr/>
              </a:pPr>
              <a:t>‹#›</a:t>
            </a:fld>
            <a:endParaRPr lang="en-US" altLang="en-US"/>
          </a:p>
        </p:txBody>
      </p:sp>
      <p:sp>
        <p:nvSpPr>
          <p:cNvPr id="7" name="Straight Connector 6"/>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4361127" y="2401464"/>
            <a:ext cx="438912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9000"/>
            <a:lum/>
          </a:blip>
          <a:srcRect/>
          <a:tile tx="0" ty="0" sx="100000" sy="100000" flip="none" algn="tl"/>
        </a:blip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14300"/>
            <a:ext cx="8229600" cy="74295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914400"/>
            <a:ext cx="8229600" cy="3682746"/>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4767263"/>
            <a:ext cx="2289048" cy="274320"/>
          </a:xfrm>
          <a:prstGeom prst="rect">
            <a:avLst/>
          </a:prstGeom>
        </p:spPr>
        <p:txBody>
          <a:bodyPr vert="horz"/>
          <a:lstStyle>
            <a:lvl1pPr algn="l" eaLnBrk="1" latinLnBrk="0" hangingPunct="1">
              <a:defRPr kumimoji="0" sz="1400">
                <a:solidFill>
                  <a:schemeClr val="tx2"/>
                </a:solidFill>
              </a:defRPr>
            </a:lvl1pPr>
          </a:lstStyle>
          <a:p>
            <a:pPr>
              <a:defRPr/>
            </a:pPr>
            <a:fld id="{F2B7BAF5-5BC0-49B1-9197-CD06326EE3BE}" type="datetime3">
              <a:rPr lang="en-US" smtClean="0"/>
              <a:t>22 November 2025</a:t>
            </a:fld>
            <a:endParaRPr lang="en-US" dirty="0"/>
          </a:p>
        </p:txBody>
      </p:sp>
      <p:sp>
        <p:nvSpPr>
          <p:cNvPr id="3" name="Footer Placeholder 2"/>
          <p:cNvSpPr>
            <a:spLocks noGrp="1"/>
          </p:cNvSpPr>
          <p:nvPr>
            <p:ph type="ftr" sz="quarter" idx="3"/>
          </p:nvPr>
        </p:nvSpPr>
        <p:spPr>
          <a:xfrm>
            <a:off x="2898648" y="4767263"/>
            <a:ext cx="3505200" cy="274320"/>
          </a:xfrm>
          <a:prstGeom prst="rect">
            <a:avLst/>
          </a:prstGeom>
        </p:spPr>
        <p:txBody>
          <a:bodyPr vert="horz"/>
          <a:lstStyle>
            <a:lvl1pPr algn="r" eaLnBrk="1" latinLnBrk="0" hangingPunct="1">
              <a:defRPr kumimoji="0" sz="1400">
                <a:solidFill>
                  <a:schemeClr val="tx2"/>
                </a:solidFill>
              </a:defRPr>
            </a:lvl1pPr>
          </a:lstStyle>
          <a:p>
            <a:pPr>
              <a:defRPr/>
            </a:pPr>
            <a:r>
              <a:rPr lang="en-US"/>
              <a:t>EGB1201 – JAVA PROGRAMMING –PROJECT REVIEW 2 </a:t>
            </a:r>
            <a:endParaRPr lang="en-US" dirty="0"/>
          </a:p>
        </p:txBody>
      </p:sp>
      <p:sp>
        <p:nvSpPr>
          <p:cNvPr id="23" name="Slide Number Placeholder 22"/>
          <p:cNvSpPr>
            <a:spLocks noGrp="1"/>
          </p:cNvSpPr>
          <p:nvPr>
            <p:ph type="sldNum" sz="quarter" idx="4"/>
          </p:nvPr>
        </p:nvSpPr>
        <p:spPr>
          <a:xfrm>
            <a:off x="612648" y="4767263"/>
            <a:ext cx="1981200" cy="274320"/>
          </a:xfrm>
          <a:prstGeom prst="rect">
            <a:avLst/>
          </a:prstGeom>
        </p:spPr>
        <p:txBody>
          <a:bodyPr vert="horz"/>
          <a:lstStyle>
            <a:lvl1pPr algn="l" eaLnBrk="1" latinLnBrk="0" hangingPunct="1">
              <a:defRPr kumimoji="0" sz="1400">
                <a:solidFill>
                  <a:schemeClr val="tx2"/>
                </a:solidFill>
              </a:defRPr>
            </a:lvl1pPr>
          </a:lstStyle>
          <a:p>
            <a:pPr>
              <a:defRPr/>
            </a:pPr>
            <a:fld id="{D78D2778-B29C-49DB-A26C-44F5760A332D}" type="slidenum">
              <a:rPr lang="en-US" altLang="en-US" smtClean="0"/>
              <a:pPr>
                <a:defRPr/>
              </a:pPr>
              <a:t>‹#›</a:t>
            </a:fld>
            <a:endParaRPr lang="en-US" altLang="en-US"/>
          </a:p>
        </p:txBody>
      </p:sp>
      <p:sp>
        <p:nvSpPr>
          <p:cNvPr id="28" name="Straight Connector 27"/>
          <p:cNvSpPr>
            <a:spLocks noChangeShapeType="1"/>
          </p:cNvSpPr>
          <p:nvPr/>
        </p:nvSpPr>
        <p:spPr bwMode="auto">
          <a:xfrm>
            <a:off x="457200" y="4764881"/>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85725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052513"/>
          </a:xfrm>
          <a:solidFill>
            <a:schemeClr val="bg2">
              <a:lumMod val="75000"/>
            </a:schemeClr>
          </a:solidFill>
          <a:ln>
            <a:solidFill>
              <a:schemeClr val="tx1"/>
            </a:solidFill>
          </a:ln>
        </p:spPr>
        <p:txBody>
          <a:bodyPr>
            <a:normAutofit/>
          </a:bodyPr>
          <a:lstStyle/>
          <a:p>
            <a:pPr algn="ctr">
              <a:defRPr/>
            </a:pPr>
            <a:r>
              <a:rPr lang="en-IN" sz="2800" b="1" dirty="0">
                <a:solidFill>
                  <a:schemeClr val="tx1"/>
                </a:solidFill>
                <a:latin typeface="Times New Roman" pitchFamily="18" charset="0"/>
                <a:cs typeface="Times New Roman" pitchFamily="18" charset="0"/>
              </a:rPr>
              <a:t>EGB1201 – JAVA PROGRAMMING</a:t>
            </a:r>
            <a:br>
              <a:rPr lang="en-IN" sz="2800" b="1" dirty="0">
                <a:solidFill>
                  <a:schemeClr val="tx1"/>
                </a:solidFill>
                <a:latin typeface="Times New Roman" pitchFamily="18" charset="0"/>
                <a:cs typeface="Times New Roman" pitchFamily="18" charset="0"/>
              </a:rPr>
            </a:br>
            <a:r>
              <a:rPr lang="en-IN" sz="2800" b="1" dirty="0">
                <a:solidFill>
                  <a:schemeClr val="tx1"/>
                </a:solidFill>
                <a:latin typeface="Times New Roman" pitchFamily="18" charset="0"/>
                <a:cs typeface="Times New Roman" pitchFamily="18" charset="0"/>
              </a:rPr>
              <a:t>PROJECT REVIEW-2</a:t>
            </a:r>
          </a:p>
        </p:txBody>
      </p:sp>
      <p:sp>
        <p:nvSpPr>
          <p:cNvPr id="7" name="Footer Placeholder 4"/>
          <p:cNvSpPr txBox="1">
            <a:spLocks/>
          </p:cNvSpPr>
          <p:nvPr/>
        </p:nvSpPr>
        <p:spPr>
          <a:xfrm>
            <a:off x="762000" y="1289154"/>
            <a:ext cx="7772400" cy="3568596"/>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a:latin typeface="Times New Roman" pitchFamily="18" charset="0"/>
              <a:cs typeface="Times New Roman" pitchFamily="18" charset="0"/>
            </a:endParaRPr>
          </a:p>
          <a:p>
            <a:pPr algn="ctr">
              <a:defRPr/>
            </a:pPr>
            <a:endParaRPr lang="en-US" sz="2500" b="1" dirty="0">
              <a:latin typeface="Times New Roman" pitchFamily="18" charset="0"/>
              <a:cs typeface="Times New Roman" pitchFamily="18" charset="0"/>
            </a:endParaRPr>
          </a:p>
          <a:p>
            <a:pPr algn="ctr">
              <a:defRPr/>
            </a:pPr>
            <a:endParaRPr lang="en-US" sz="2500" b="1" dirty="0">
              <a:latin typeface="Times New Roman" pitchFamily="18" charset="0"/>
              <a:cs typeface="Times New Roman" pitchFamily="18" charset="0"/>
            </a:endParaRPr>
          </a:p>
          <a:p>
            <a:pPr algn="ctr">
              <a:defRPr/>
            </a:pPr>
            <a:endParaRPr lang="en-US" sz="2500" b="1" dirty="0">
              <a:latin typeface="Times New Roman" pitchFamily="18" charset="0"/>
              <a:cs typeface="Times New Roman" pitchFamily="18" charset="0"/>
            </a:endParaRPr>
          </a:p>
          <a:p>
            <a:pPr algn="ctr">
              <a:defRPr/>
            </a:pPr>
            <a:endParaRPr lang="en-US" sz="2500" b="1" dirty="0">
              <a:latin typeface="Times New Roman" pitchFamily="18" charset="0"/>
              <a:cs typeface="Times New Roman" pitchFamily="18" charset="0"/>
            </a:endParaRPr>
          </a:p>
          <a:p>
            <a:pPr algn="ctr">
              <a:defRPr/>
            </a:pPr>
            <a:endParaRPr lang="en-US" sz="2500" b="1" dirty="0">
              <a:latin typeface="Times New Roman" pitchFamily="18" charset="0"/>
              <a:cs typeface="Times New Roman" pitchFamily="18" charset="0"/>
            </a:endParaRPr>
          </a:p>
          <a:p>
            <a:pPr algn="ctr">
              <a:defRPr/>
            </a:pPr>
            <a:endParaRPr lang="en-US" sz="2500" b="1" dirty="0">
              <a:latin typeface="Times New Roman" pitchFamily="18" charset="0"/>
              <a:cs typeface="Times New Roman" pitchFamily="18" charset="0"/>
            </a:endParaRPr>
          </a:p>
          <a:p>
            <a:pPr algn="ctr">
              <a:defRPr/>
            </a:pPr>
            <a:endParaRPr lang="en-US" sz="2500" b="1" dirty="0">
              <a:latin typeface="Times New Roman" pitchFamily="18" charset="0"/>
              <a:cs typeface="Times New Roman" pitchFamily="18" charset="0"/>
            </a:endParaRPr>
          </a:p>
          <a:p>
            <a:pPr algn="ctr">
              <a:defRPr/>
            </a:pPr>
            <a:endParaRPr lang="en-US" sz="2500" b="1" dirty="0">
              <a:latin typeface="Times New Roman" pitchFamily="18" charset="0"/>
              <a:cs typeface="Times New Roman" pitchFamily="18" charset="0"/>
            </a:endParaRPr>
          </a:p>
          <a:p>
            <a:pPr algn="ctr">
              <a:defRPr/>
            </a:pPr>
            <a:endParaRPr lang="en-US" sz="2500" b="1" dirty="0">
              <a:latin typeface="Times New Roman" pitchFamily="18" charset="0"/>
              <a:cs typeface="Times New Roman" pitchFamily="18" charset="0"/>
            </a:endParaRPr>
          </a:p>
          <a:p>
            <a:pPr algn="ctr">
              <a:defRPr/>
            </a:pPr>
            <a:r>
              <a:rPr lang="en-US" sz="3600" b="1" dirty="0">
                <a:latin typeface="Times New Roman" pitchFamily="18" charset="0"/>
                <a:cs typeface="Times New Roman" pitchFamily="18" charset="0"/>
              </a:rPr>
              <a:t>                           3</a:t>
            </a:r>
          </a:p>
          <a:p>
            <a:pPr algn="ctr">
              <a:defRPr/>
            </a:pPr>
            <a:r>
              <a:rPr lang="en-US" sz="2500" b="1" dirty="0">
                <a:solidFill>
                  <a:schemeClr val="tx1"/>
                </a:solidFill>
                <a:latin typeface="Times New Roman" pitchFamily="18" charset="0"/>
                <a:cs typeface="Times New Roman" pitchFamily="18" charset="0"/>
              </a:rPr>
              <a:t>Department of Electrical and Electronics Engineering</a:t>
            </a:r>
          </a:p>
          <a:p>
            <a:pPr algn="ctr">
              <a:defRPr/>
            </a:pPr>
            <a:r>
              <a:rPr lang="en-US" sz="2500" b="1" dirty="0">
                <a:solidFill>
                  <a:schemeClr val="tx1"/>
                </a:solidFill>
                <a:latin typeface="Times New Roman" pitchFamily="18" charset="0"/>
                <a:cs typeface="Times New Roman" pitchFamily="18" charset="0"/>
              </a:rPr>
              <a:t>Academic Year: 2025 – 2026 (Odd Semester)</a:t>
            </a:r>
          </a:p>
          <a:p>
            <a:pPr algn="ctr">
              <a:defRPr/>
            </a:pPr>
            <a:endParaRPr lang="en-US" sz="2500" b="1" dirty="0">
              <a:solidFill>
                <a:schemeClr val="tx1"/>
              </a:solidFill>
              <a:latin typeface="Times New Roman" pitchFamily="18" charset="0"/>
              <a:cs typeface="Times New Roman" pitchFamily="18" charset="0"/>
            </a:endParaRPr>
          </a:p>
          <a:p>
            <a:r>
              <a:rPr lang="en-US" sz="2500" b="1" dirty="0">
                <a:solidFill>
                  <a:schemeClr val="tx1"/>
                </a:solidFill>
                <a:latin typeface="Times New Roman" pitchFamily="18" charset="0"/>
                <a:cs typeface="Times New Roman" pitchFamily="18" charset="0"/>
              </a:rPr>
              <a:t>Register Number	:927624BEE017</a:t>
            </a:r>
            <a:endParaRPr lang="zh-CN" altLang="en-US" sz="2800" dirty="0"/>
          </a:p>
          <a:p>
            <a:r>
              <a:rPr lang="en-US" sz="2500" b="1" dirty="0">
                <a:solidFill>
                  <a:schemeClr val="tx1"/>
                </a:solidFill>
                <a:latin typeface="Times New Roman" pitchFamily="18" charset="0"/>
                <a:cs typeface="Times New Roman" pitchFamily="18" charset="0"/>
              </a:rPr>
              <a:t>Name					:</a:t>
            </a:r>
            <a:r>
              <a:rPr lang="en-US" altLang="en-IN" sz="2500" b="1" dirty="0">
                <a:solidFill>
                  <a:schemeClr val="tx1"/>
                </a:solidFill>
                <a:latin typeface="Times New Roman" pitchFamily="18" charset="0"/>
                <a:cs typeface="Times New Roman" pitchFamily="18" charset="0"/>
              </a:rPr>
              <a:t>DHANIKESH S</a:t>
            </a:r>
            <a:endParaRPr lang="zh-CN" altLang="en-US" sz="2800" dirty="0"/>
          </a:p>
          <a:p>
            <a:r>
              <a:rPr lang="en-US" sz="2500" b="1" dirty="0">
                <a:solidFill>
                  <a:schemeClr val="tx1"/>
                </a:solidFill>
                <a:latin typeface="Times New Roman" pitchFamily="18" charset="0"/>
                <a:cs typeface="Times New Roman" pitchFamily="18" charset="0"/>
              </a:rPr>
              <a:t>Year					:II</a:t>
            </a:r>
          </a:p>
          <a:p>
            <a:r>
              <a:rPr lang="en-US" sz="2500" b="1" dirty="0">
                <a:solidFill>
                  <a:schemeClr val="tx1"/>
                </a:solidFill>
                <a:latin typeface="Times New Roman" pitchFamily="18" charset="0"/>
                <a:cs typeface="Times New Roman" pitchFamily="18" charset="0"/>
              </a:rPr>
              <a:t>Semester				:III</a:t>
            </a:r>
          </a:p>
          <a:p>
            <a:r>
              <a:rPr lang="en-US" sz="2500" b="1" dirty="0">
                <a:solidFill>
                  <a:schemeClr val="tx1"/>
                </a:solidFill>
                <a:latin typeface="Times New Roman" pitchFamily="18" charset="0"/>
                <a:cs typeface="Times New Roman" pitchFamily="18" charset="0"/>
              </a:rPr>
              <a:t>Section				:EEE-A</a:t>
            </a:r>
          </a:p>
          <a:p>
            <a:r>
              <a:rPr lang="en-US" sz="2500" b="1" dirty="0">
                <a:solidFill>
                  <a:schemeClr val="tx1"/>
                </a:solidFill>
                <a:latin typeface="Times New Roman" pitchFamily="18" charset="0"/>
                <a:cs typeface="Times New Roman" pitchFamily="18" charset="0"/>
              </a:rPr>
              <a:t>Date					:21.11.2025</a:t>
            </a:r>
          </a:p>
          <a:p>
            <a:pPr>
              <a:defRPr/>
            </a:pPr>
            <a:endParaRPr lang="en-US" sz="2500" b="1"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DB554FDC-F986-4516-81A3-5CBC9634E9C1}" type="slidenum">
              <a:rPr lang="en-US" altLang="en-US" smtClean="0"/>
              <a:pPr>
                <a:defRPr/>
              </a:pPr>
              <a:t>1</a:t>
            </a:fld>
            <a:endParaRPr lang="en-US" altLang="en-US"/>
          </a:p>
        </p:txBody>
      </p:sp>
      <p:sp>
        <p:nvSpPr>
          <p:cNvPr id="5" name="Footer Placeholder 4"/>
          <p:cNvSpPr>
            <a:spLocks noGrp="1"/>
          </p:cNvSpPr>
          <p:nvPr>
            <p:ph type="ftr" sz="quarter" idx="11"/>
          </p:nvPr>
        </p:nvSpPr>
        <p:spPr>
          <a:xfrm>
            <a:off x="2438400" y="4767262"/>
            <a:ext cx="5029200" cy="376238"/>
          </a:xfrm>
        </p:spPr>
        <p:txBody>
          <a:bodyPr/>
          <a:lstStyle/>
          <a:p>
            <a:pPr>
              <a:defRPr/>
            </a:pPr>
            <a:r>
              <a:rPr lang="en-US" dirty="0"/>
              <a:t>EGB1201 – JAVA PROGRAMMING –PROJECT REVIEW 3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E05917E-1459-9543-BDC1-EB6757DCCC2B}"/>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Title of the Project</a:t>
            </a:r>
            <a:endParaRPr lang="en-IN" sz="4000" b="1" dirty="0">
              <a:solidFill>
                <a:schemeClr val="tx1"/>
              </a:solidFill>
              <a:latin typeface="Times New Roman" pitchFamily="18" charset="0"/>
              <a:cs typeface="Times New Roman" pitchFamily="18" charset="0"/>
            </a:endParaRPr>
          </a:p>
        </p:txBody>
      </p:sp>
      <p:sp>
        <p:nvSpPr>
          <p:cNvPr id="4" name="Footer Placeholder 3">
            <a:extLst>
              <a:ext uri="{FF2B5EF4-FFF2-40B4-BE49-F238E27FC236}">
                <a16:creationId xmlns:a16="http://schemas.microsoft.com/office/drawing/2014/main" id="{A59926A3-D6DE-BF77-88C6-09EA205A58DB}"/>
              </a:ext>
            </a:extLst>
          </p:cNvPr>
          <p:cNvSpPr>
            <a:spLocks noGrp="1"/>
          </p:cNvSpPr>
          <p:nvPr>
            <p:ph type="ftr" sz="quarter" idx="11"/>
          </p:nvPr>
        </p:nvSpPr>
        <p:spPr>
          <a:xfrm>
            <a:off x="2438400" y="4767263"/>
            <a:ext cx="4340352" cy="376237"/>
          </a:xfrm>
        </p:spPr>
        <p:txBody>
          <a:bodyPr/>
          <a:lstStyle/>
          <a:p>
            <a:pPr>
              <a:defRPr/>
            </a:pPr>
            <a:r>
              <a:rPr lang="en-US" sz="1200" dirty="0">
                <a:latin typeface="Times New Roman" pitchFamily="18" charset="0"/>
                <a:cs typeface="Times New Roman" pitchFamily="18" charset="0"/>
              </a:rPr>
              <a:t>EGB1201 – JAVA PROGRAMMING –PROJECT REVIEW 3 </a:t>
            </a:r>
          </a:p>
        </p:txBody>
      </p:sp>
      <p:sp>
        <p:nvSpPr>
          <p:cNvPr id="8196" name="Slide Number Placeholder 5"/>
          <p:cNvSpPr>
            <a:spLocks noGrp="1" noChangeArrowheads="1"/>
          </p:cNvSpPr>
          <p:nvPr>
            <p:ph type="sldNum" sz="quarter" idx="12"/>
          </p:nvPr>
        </p:nvSpPr>
        <p:spPr bwMode="auto">
          <a:noFill/>
          <a:ln>
            <a:miter lim="800000"/>
            <a:headEnd/>
            <a:tailEnd/>
          </a:ln>
        </p:spPr>
        <p:txBody>
          <a:bodyPr/>
          <a:lstStyle/>
          <a:p>
            <a:fld id="{C8B3AA75-1EA1-4A20-9182-A423EE2FFA8F}" type="slidenum">
              <a:rPr lang="en-US" altLang="en-US"/>
              <a:pPr/>
              <a:t>2</a:t>
            </a:fld>
            <a:endParaRPr lang="en-US" altLang="en-US"/>
          </a:p>
        </p:txBody>
      </p:sp>
      <p:sp>
        <p:nvSpPr>
          <p:cNvPr id="7" name="Footer Placeholder 4"/>
          <p:cNvSpPr txBox="1">
            <a:spLocks/>
          </p:cNvSpPr>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a:p>
        </p:txBody>
      </p:sp>
      <p:sp>
        <p:nvSpPr>
          <p:cNvPr id="6" name="Content Placeholder 2">
            <a:extLst>
              <a:ext uri="{FF2B5EF4-FFF2-40B4-BE49-F238E27FC236}">
                <a16:creationId xmlns:a16="http://schemas.microsoft.com/office/drawing/2014/main" id="{65894BDA-3057-096C-18BB-A0D0D182A5A7}"/>
              </a:ext>
            </a:extLst>
          </p:cNvPr>
          <p:cNvSpPr>
            <a:spLocks noGrp="1"/>
          </p:cNvSpPr>
          <p:nvPr>
            <p:ph sz="quarter" idx="1"/>
          </p:nvPr>
        </p:nvSpPr>
        <p:spPr>
          <a:xfrm>
            <a:off x="457200" y="914400"/>
            <a:ext cx="8229600" cy="3703320"/>
          </a:xfrm>
        </p:spPr>
        <p:txBody>
          <a:bodyPr/>
          <a:lstStyle/>
          <a:p>
            <a:pPr marL="0" indent="0">
              <a:buNone/>
            </a:pPr>
            <a:r>
              <a:rPr lang="en-US" altLang="zh-CN" sz="2800" b="1" dirty="0">
                <a:latin typeface="Times New Roman" panose="02020603050405020304" pitchFamily="18" charset="0"/>
                <a:cs typeface="Times New Roman" panose="02020603050405020304" pitchFamily="18" charset="0"/>
              </a:rPr>
              <a:t>			</a:t>
            </a:r>
          </a:p>
          <a:p>
            <a:pPr marL="0" indent="0">
              <a:buNone/>
            </a:pPr>
            <a:endParaRPr lang="en-US" altLang="zh-CN" sz="2800" b="1" dirty="0">
              <a:latin typeface="Times New Roman" panose="02020603050405020304" pitchFamily="18" charset="0"/>
              <a:cs typeface="Times New Roman" panose="02020603050405020304" pitchFamily="18" charset="0"/>
            </a:endParaRPr>
          </a:p>
          <a:p>
            <a:pPr marL="0" marR="68580" indent="0">
              <a:lnSpc>
                <a:spcPct val="107000"/>
              </a:lnSpc>
              <a:spcBef>
                <a:spcPts val="20"/>
              </a:spcBef>
              <a:spcAft>
                <a:spcPts val="800"/>
              </a:spcAft>
              <a:buNone/>
            </a:pPr>
            <a:r>
              <a:rPr lang="en-US" altLang="zh-CN" sz="2800" b="1" dirty="0">
                <a:latin typeface="Times New Roman" panose="02020603050405020304" pitchFamily="18" charset="0"/>
                <a:cs typeface="Times New Roman" panose="02020603050405020304" pitchFamily="18" charset="0"/>
              </a:rPr>
              <a:t>		</a:t>
            </a:r>
          </a:p>
          <a:p>
            <a:pPr marL="0" marR="68580" indent="0">
              <a:lnSpc>
                <a:spcPct val="107000"/>
              </a:lnSpc>
              <a:spcBef>
                <a:spcPts val="20"/>
              </a:spcBef>
              <a:spcAft>
                <a:spcPts val="800"/>
              </a:spcAft>
              <a:buNone/>
            </a:pPr>
            <a:r>
              <a:rPr lang="en-US" sz="2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Banking ATM with PIN security</a:t>
            </a:r>
            <a:endParaRPr lang="en-IN" sz="1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68580" indent="0">
              <a:lnSpc>
                <a:spcPct val="107000"/>
              </a:lnSpc>
              <a:spcBef>
                <a:spcPts val="20"/>
              </a:spcBef>
              <a:spcAft>
                <a:spcPts val="800"/>
              </a:spcAft>
              <a:buNone/>
            </a:pPr>
            <a:endParaRPr lang="en-IN" sz="1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zh-CN" altLang="en-US" dirty="0">
              <a:latin typeface="Times New Roman" panose="02020603050405020304" pitchFamily="18" charset="0"/>
              <a:cs typeface="Times New Roman" panose="02020603050405020304" pitchFamily="18" charset="0"/>
            </a:endParaRP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25515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B552-9064-2022-2FE6-8CF056A213C6}"/>
              </a:ext>
            </a:extLst>
          </p:cNvPr>
          <p:cNvSpPr>
            <a:spLocks noGrp="1"/>
          </p:cNvSpPr>
          <p:nvPr>
            <p:ph type="title"/>
          </p:nvPr>
        </p:nvSpPr>
        <p:spPr>
          <a:xfrm>
            <a:off x="457200" y="209550"/>
            <a:ext cx="8229600" cy="609600"/>
          </a:xfrm>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Abstract</a:t>
            </a:r>
            <a:r>
              <a:rPr lang="en-IN" dirty="0">
                <a:solidFill>
                  <a:schemeClr val="tx1"/>
                </a:solidFill>
                <a:latin typeface="Times New Roman" pitchFamily="18" charset="0"/>
                <a:cs typeface="Times New Roman" pitchFamily="18" charset="0"/>
              </a:rPr>
              <a:t> </a:t>
            </a:r>
            <a:endParaRPr lang="en-IN" sz="4000"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9F403579-F0D1-E1A9-9626-90D255E99861}"/>
              </a:ext>
            </a:extLst>
          </p:cNvPr>
          <p:cNvSpPr>
            <a:spLocks noGrp="1"/>
          </p:cNvSpPr>
          <p:nvPr>
            <p:ph type="ftr" sz="quarter" idx="11"/>
          </p:nvPr>
        </p:nvSpPr>
        <p:spPr>
          <a:xfrm>
            <a:off x="2514600" y="4767263"/>
            <a:ext cx="4191000" cy="376237"/>
          </a:xfrm>
        </p:spPr>
        <p:txBody>
          <a:bodyPr/>
          <a:lstStyle/>
          <a:p>
            <a:pPr>
              <a:defRPr/>
            </a:pPr>
            <a:r>
              <a:rPr lang="en-US" sz="1200" dirty="0">
                <a:latin typeface="Times New Roman" pitchFamily="18" charset="0"/>
                <a:cs typeface="Times New Roman" pitchFamily="18" charset="0"/>
              </a:rPr>
              <a:t>EGB1201 – JAVA PROGRAMMING –PROJECT REVIEW 3 </a:t>
            </a:r>
          </a:p>
        </p:txBody>
      </p:sp>
      <p:sp>
        <p:nvSpPr>
          <p:cNvPr id="6" name="Slide Number Placeholder 5">
            <a:extLst>
              <a:ext uri="{FF2B5EF4-FFF2-40B4-BE49-F238E27FC236}">
                <a16:creationId xmlns:a16="http://schemas.microsoft.com/office/drawing/2014/main" id="{03F0F658-36A0-130D-3974-0382D1967D80}"/>
              </a:ext>
            </a:extLst>
          </p:cNvPr>
          <p:cNvSpPr>
            <a:spLocks noGrp="1"/>
          </p:cNvSpPr>
          <p:nvPr>
            <p:ph type="sldNum" sz="quarter" idx="12"/>
          </p:nvPr>
        </p:nvSpPr>
        <p:spPr/>
        <p:txBody>
          <a:bodyPr/>
          <a:lstStyle/>
          <a:p>
            <a:pPr>
              <a:defRPr/>
            </a:pPr>
            <a:fld id="{0E14ABD8-B1EB-4C07-9937-C8C4E38BDF00}" type="slidenum">
              <a:rPr lang="en-US" altLang="en-US" smtClean="0"/>
              <a:pPr>
                <a:defRPr/>
              </a:pPr>
              <a:t>3</a:t>
            </a:fld>
            <a:endParaRPr lang="en-US" altLang="en-US"/>
          </a:p>
        </p:txBody>
      </p:sp>
      <p:sp>
        <p:nvSpPr>
          <p:cNvPr id="3" name="Content Placeholder 2">
            <a:extLst>
              <a:ext uri="{FF2B5EF4-FFF2-40B4-BE49-F238E27FC236}">
                <a16:creationId xmlns:a16="http://schemas.microsoft.com/office/drawing/2014/main" id="{65894BDA-3057-096C-18BB-A0D0D182A5A7}"/>
              </a:ext>
            </a:extLst>
          </p:cNvPr>
          <p:cNvSpPr>
            <a:spLocks noGrp="1"/>
          </p:cNvSpPr>
          <p:nvPr>
            <p:ph sz="quarter" idx="1"/>
          </p:nvPr>
        </p:nvSpPr>
        <p:spPr/>
        <p:txBody>
          <a:bodyPr>
            <a:normAutofit fontScale="40000" lnSpcReduction="20000"/>
          </a:bodyPr>
          <a:lstStyle/>
          <a:p>
            <a:pPr algn="just">
              <a:lnSpc>
                <a:spcPct val="160000"/>
              </a:lnSpc>
            </a:pPr>
            <a:r>
              <a:rPr lang="en-US" sz="3300" dirty="0">
                <a:latin typeface="Times New Roman" panose="02020603050405020304" pitchFamily="18" charset="0"/>
                <a:cs typeface="Times New Roman" panose="02020603050405020304" pitchFamily="18" charset="0"/>
              </a:rPr>
              <a:t>The Banking ATM with PIN Security project simulates the working of an Automated Teller Machine (ATM) with secure access using a Personal Identification Number (PIN).</a:t>
            </a:r>
          </a:p>
          <a:p>
            <a:pPr algn="just">
              <a:lnSpc>
                <a:spcPct val="160000"/>
              </a:lnSpc>
            </a:pPr>
            <a:r>
              <a:rPr lang="en-US" sz="3300" dirty="0">
                <a:latin typeface="Times New Roman" panose="02020603050405020304" pitchFamily="18" charset="0"/>
                <a:cs typeface="Times New Roman" panose="02020603050405020304" pitchFamily="18" charset="0"/>
              </a:rPr>
              <a:t>The system ensures that only authorized users can perform banking operations such as balance inquiry, cash withdrawal, deposit, and exit.</a:t>
            </a:r>
          </a:p>
          <a:p>
            <a:pPr algn="just">
              <a:lnSpc>
                <a:spcPct val="160000"/>
              </a:lnSpc>
            </a:pPr>
            <a:r>
              <a:rPr lang="en-US" sz="3300" dirty="0">
                <a:latin typeface="Times New Roman" panose="02020603050405020304" pitchFamily="18" charset="0"/>
                <a:cs typeface="Times New Roman" panose="02020603050405020304" pitchFamily="18" charset="0"/>
              </a:rPr>
              <a:t>The PIN verification mechanism enhances security by allowing a maximum of three attempts, after which the card is blocked to prevent unauthorized access.</a:t>
            </a:r>
          </a:p>
          <a:p>
            <a:pPr algn="just">
              <a:lnSpc>
                <a:spcPct val="160000"/>
              </a:lnSpc>
            </a:pPr>
            <a:r>
              <a:rPr lang="en-US" sz="3300" dirty="0">
                <a:latin typeface="Times New Roman" panose="02020603050405020304" pitchFamily="18" charset="0"/>
                <a:cs typeface="Times New Roman" panose="02020603050405020304" pitchFamily="18" charset="0"/>
              </a:rPr>
              <a:t>This project is implemented in Java, making use of conditional statements, loops, and user input handling for efficient execution.</a:t>
            </a:r>
          </a:p>
          <a:p>
            <a:pPr algn="just">
              <a:lnSpc>
                <a:spcPct val="160000"/>
              </a:lnSpc>
            </a:pPr>
            <a:r>
              <a:rPr lang="en-US" sz="3300" dirty="0">
                <a:latin typeface="Times New Roman" panose="02020603050405020304" pitchFamily="18" charset="0"/>
                <a:cs typeface="Times New Roman" panose="02020603050405020304" pitchFamily="18" charset="0"/>
              </a:rPr>
              <a:t>The model demonstrates the integration of basic banking operations with authentication, which is the core principle behind real-world ATM systems.</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875433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41D2982-5921-8820-6121-B327A76C2313}"/>
              </a:ext>
            </a:extLst>
          </p:cNvPr>
          <p:cNvSpPr>
            <a:spLocks noGrp="1"/>
          </p:cNvSpPr>
          <p:nvPr>
            <p:ph type="title"/>
          </p:nvPr>
        </p:nvSpPr>
        <p:spPr>
          <a:xfrm>
            <a:off x="521970" y="76200"/>
            <a:ext cx="8001000" cy="495300"/>
          </a:xfrm>
          <a:solidFill>
            <a:schemeClr val="bg2">
              <a:lumMod val="75000"/>
            </a:schemeClr>
          </a:solidFill>
        </p:spPr>
        <p:txBody>
          <a:bodyPr>
            <a:noAutofit/>
          </a:bodyPr>
          <a:lstStyle/>
          <a:p>
            <a:pPr algn="ctr"/>
            <a:r>
              <a:rPr lang="en-IN" b="1" dirty="0">
                <a:solidFill>
                  <a:schemeClr val="tx1"/>
                </a:solidFill>
                <a:latin typeface="Times New Roman" pitchFamily="18" charset="0"/>
                <a:cs typeface="Times New Roman" pitchFamily="18" charset="0"/>
              </a:rPr>
              <a:t>Abstract with CO/PO Mapping</a:t>
            </a:r>
            <a:endParaRPr lang="en-IN" sz="4000" b="1" dirty="0">
              <a:solidFill>
                <a:schemeClr val="tx1"/>
              </a:solidFill>
              <a:latin typeface="Times New Roman" pitchFamily="18" charset="0"/>
              <a:cs typeface="Times New Roman" pitchFamily="18" charset="0"/>
            </a:endParaRPr>
          </a:p>
        </p:txBody>
      </p:sp>
      <p:sp>
        <p:nvSpPr>
          <p:cNvPr id="6" name="Footer Placeholder 5">
            <a:extLst>
              <a:ext uri="{FF2B5EF4-FFF2-40B4-BE49-F238E27FC236}">
                <a16:creationId xmlns:a16="http://schemas.microsoft.com/office/drawing/2014/main" id="{0DFA7D47-ED00-F80D-DBCB-FE3C2E8CD979}"/>
              </a:ext>
            </a:extLst>
          </p:cNvPr>
          <p:cNvSpPr>
            <a:spLocks noGrp="1"/>
          </p:cNvSpPr>
          <p:nvPr>
            <p:ph type="ftr" sz="quarter" idx="11"/>
          </p:nvPr>
        </p:nvSpPr>
        <p:spPr>
          <a:xfrm>
            <a:off x="2819400" y="4767263"/>
            <a:ext cx="4114800" cy="376237"/>
          </a:xfrm>
        </p:spPr>
        <p:txBody>
          <a:bodyPr/>
          <a:lstStyle/>
          <a:p>
            <a:pPr>
              <a:defRPr/>
            </a:pPr>
            <a:r>
              <a:rPr lang="en-US" sz="1200">
                <a:latin typeface="Times New Roman" pitchFamily="18" charset="0"/>
                <a:cs typeface="Times New Roman" pitchFamily="18" charset="0"/>
              </a:rPr>
              <a:t>EGB1201 – JAVA PROGRAMMING –PROJECT REVIEW 2 </a:t>
            </a:r>
            <a:endParaRPr lang="en-US" sz="1200" dirty="0">
              <a:latin typeface="Times New Roman" pitchFamily="18" charset="0"/>
              <a:cs typeface="Times New Roman" pitchFamily="18" charset="0"/>
            </a:endParaRPr>
          </a:p>
        </p:txBody>
      </p:sp>
      <p:sp>
        <p:nvSpPr>
          <p:cNvPr id="8196" name="Slide Number Placeholder 5"/>
          <p:cNvSpPr>
            <a:spLocks noGrp="1" noChangeArrowheads="1"/>
          </p:cNvSpPr>
          <p:nvPr>
            <p:ph type="sldNum" sz="quarter" idx="12"/>
          </p:nvPr>
        </p:nvSpPr>
        <p:spPr bwMode="auto">
          <a:noFill/>
          <a:ln>
            <a:miter lim="800000"/>
            <a:headEnd/>
            <a:tailEnd/>
          </a:ln>
        </p:spPr>
        <p:txBody>
          <a:bodyPr/>
          <a:lstStyle/>
          <a:p>
            <a:fld id="{C8B3AA75-1EA1-4A20-9182-A423EE2FFA8F}" type="slidenum">
              <a:rPr lang="en-US" altLang="en-US"/>
              <a:pPr/>
              <a:t>4</a:t>
            </a:fld>
            <a:endParaRPr lang="en-US" altLang="en-US"/>
          </a:p>
        </p:txBody>
      </p:sp>
      <p:sp>
        <p:nvSpPr>
          <p:cNvPr id="7" name="Footer Placeholder 4"/>
          <p:cNvSpPr txBox="1">
            <a:spLocks/>
          </p:cNvSpPr>
          <p:nvPr/>
        </p:nvSpPr>
        <p:spPr>
          <a:xfrm>
            <a:off x="799641" y="1271071"/>
            <a:ext cx="7772400" cy="1224479"/>
          </a:xfrm>
          <a:prstGeom prst="rect">
            <a:avLst/>
          </a:prstGeom>
        </p:spPr>
        <p:txBody>
          <a:bodyPr vert="horz" lIns="45720" rIns="45720" bIns="0" rtlCol="0" anchor="b"/>
          <a:lstStyle>
            <a:defPPr>
              <a:defRPr lang="en-US"/>
            </a:defPPr>
            <a:lvl1pPr algn="l" rtl="0" eaLnBrk="1" fontAlgn="base" latinLnBrk="0" hangingPunct="1">
              <a:spcBef>
                <a:spcPct val="0"/>
              </a:spcBef>
              <a:spcAft>
                <a:spcPct val="0"/>
              </a:spcAft>
              <a:defRPr kumimoji="0" sz="1200" kern="1200">
                <a:solidFill>
                  <a:schemeClr val="tx1">
                    <a:tint val="95000"/>
                  </a:schemeClr>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endParaRPr lang="en-US" sz="2500" b="1" dirty="0"/>
          </a:p>
        </p:txBody>
      </p:sp>
      <p:graphicFrame>
        <p:nvGraphicFramePr>
          <p:cNvPr id="3" name="Table 2"/>
          <p:cNvGraphicFramePr>
            <a:graphicFrameLocks noGrp="1"/>
          </p:cNvGraphicFramePr>
          <p:nvPr>
            <p:extLst>
              <p:ext uri="{D42A27DB-BD31-4B8C-83A1-F6EECF244321}">
                <p14:modId xmlns:p14="http://schemas.microsoft.com/office/powerpoint/2010/main" val="591066602"/>
              </p:ext>
            </p:extLst>
          </p:nvPr>
        </p:nvGraphicFramePr>
        <p:xfrm>
          <a:off x="396240" y="571500"/>
          <a:ext cx="8252460" cy="4390606"/>
        </p:xfrm>
        <a:graphic>
          <a:graphicData uri="http://schemas.openxmlformats.org/drawingml/2006/table">
            <a:tbl>
              <a:tblPr firstRow="1" bandRow="1">
                <a:tableStyleId>{5C22544A-7EE6-4342-B048-85BDC9FD1C3A}</a:tableStyleId>
              </a:tblPr>
              <a:tblGrid>
                <a:gridCol w="581406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49987">
                <a:tc>
                  <a:txBody>
                    <a:bodyPr/>
                    <a:lstStyle/>
                    <a:p>
                      <a:pPr algn="ctr"/>
                      <a:r>
                        <a:rPr lang="en-US" sz="1800" dirty="0">
                          <a:solidFill>
                            <a:schemeClr val="tx1"/>
                          </a:solidFill>
                          <a:latin typeface="Times New Roman" pitchFamily="18" charset="0"/>
                          <a:cs typeface="Times New Roman" pitchFamily="18" charset="0"/>
                        </a:rPr>
                        <a:t>Abstract</a:t>
                      </a:r>
                    </a:p>
                  </a:txBody>
                  <a:tcPr>
                    <a:solidFill>
                      <a:schemeClr val="bg2"/>
                    </a:solidFill>
                  </a:tcPr>
                </a:tc>
                <a:tc>
                  <a:txBody>
                    <a:bodyPr/>
                    <a:lstStyle/>
                    <a:p>
                      <a:pPr algn="ctr"/>
                      <a:r>
                        <a:rPr lang="en-US" sz="1800" dirty="0">
                          <a:solidFill>
                            <a:schemeClr val="tx1"/>
                          </a:solidFill>
                          <a:latin typeface="Times New Roman" pitchFamily="18" charset="0"/>
                          <a:cs typeface="Times New Roman" pitchFamily="18" charset="0"/>
                        </a:rPr>
                        <a:t>CO</a:t>
                      </a:r>
                    </a:p>
                  </a:txBody>
                  <a:tcPr>
                    <a:solidFill>
                      <a:schemeClr val="bg2"/>
                    </a:solidFill>
                  </a:tcPr>
                </a:tc>
                <a:tc>
                  <a:txBody>
                    <a:bodyPr/>
                    <a:lstStyle/>
                    <a:p>
                      <a:pPr algn="ctr"/>
                      <a:r>
                        <a:rPr lang="en-US" sz="1800" dirty="0">
                          <a:solidFill>
                            <a:schemeClr val="tx1"/>
                          </a:solidFill>
                          <a:latin typeface="Times New Roman" pitchFamily="18" charset="0"/>
                          <a:cs typeface="Times New Roman" pitchFamily="18" charset="0"/>
                        </a:rPr>
                        <a:t>POs</a:t>
                      </a:r>
                    </a:p>
                  </a:txBody>
                  <a:tcPr>
                    <a:solidFill>
                      <a:schemeClr val="bg2"/>
                    </a:solidFill>
                  </a:tcPr>
                </a:tc>
                <a:tc>
                  <a:txBody>
                    <a:bodyPr/>
                    <a:lstStyle/>
                    <a:p>
                      <a:pPr algn="ctr"/>
                      <a:r>
                        <a:rPr lang="en-US" sz="1800" dirty="0">
                          <a:solidFill>
                            <a:schemeClr val="tx1"/>
                          </a:solidFill>
                          <a:latin typeface="Times New Roman" pitchFamily="18" charset="0"/>
                          <a:cs typeface="Times New Roman" pitchFamily="18" charset="0"/>
                        </a:rPr>
                        <a:t>PSO</a:t>
                      </a:r>
                    </a:p>
                  </a:txBody>
                  <a:tcPr>
                    <a:solidFill>
                      <a:schemeClr val="bg2"/>
                    </a:solidFill>
                  </a:tcPr>
                </a:tc>
                <a:extLst>
                  <a:ext uri="{0D108BD9-81ED-4DB2-BD59-A6C34878D82A}">
                    <a16:rowId xmlns:a16="http://schemas.microsoft.com/office/drawing/2014/main" val="10000"/>
                  </a:ext>
                </a:extLst>
              </a:tr>
              <a:tr h="4024846">
                <a:tc>
                  <a: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IN" sz="1300" kern="1200" dirty="0">
                          <a:solidFill>
                            <a:schemeClr val="dk1"/>
                          </a:solidFill>
                          <a:effectLst/>
                          <a:latin typeface="Times New Roman" panose="02020603050405020304" pitchFamily="18" charset="0"/>
                          <a:ea typeface="+mn-ea"/>
                          <a:cs typeface="Times New Roman" panose="02020603050405020304" pitchFamily="18" charset="0"/>
                        </a:rPr>
                        <a:t>The Banking ATM with PIN Security project simulates the working of an Automated Teller Machine (ATM) with secure access using a Personal Identification Number (PIN).The system ensures that only authorized users can perform banking operations such as balance inquiry, cash withdrawal, deposit, and </a:t>
                      </a:r>
                      <a:r>
                        <a:rPr kumimoji="0" lang="en-IN" sz="1300" kern="1200" dirty="0" err="1">
                          <a:solidFill>
                            <a:schemeClr val="dk1"/>
                          </a:solidFill>
                          <a:effectLst/>
                          <a:latin typeface="Times New Roman" panose="02020603050405020304" pitchFamily="18" charset="0"/>
                          <a:ea typeface="+mn-ea"/>
                          <a:cs typeface="Times New Roman" panose="02020603050405020304" pitchFamily="18" charset="0"/>
                        </a:rPr>
                        <a:t>exit.The</a:t>
                      </a:r>
                      <a:r>
                        <a:rPr kumimoji="0" lang="en-IN" sz="1300" kern="1200" dirty="0">
                          <a:solidFill>
                            <a:schemeClr val="dk1"/>
                          </a:solidFill>
                          <a:effectLst/>
                          <a:latin typeface="Times New Roman" panose="02020603050405020304" pitchFamily="18" charset="0"/>
                          <a:ea typeface="+mn-ea"/>
                          <a:cs typeface="Times New Roman" panose="02020603050405020304" pitchFamily="18" charset="0"/>
                        </a:rPr>
                        <a:t> PIN verification mechanism enhances security by allowing a maximum of three attempts, after which the card is blocked to prevent unauthorized </a:t>
                      </a:r>
                      <a:r>
                        <a:rPr kumimoji="0" lang="en-IN" sz="1300" kern="1200" dirty="0" err="1">
                          <a:solidFill>
                            <a:schemeClr val="dk1"/>
                          </a:solidFill>
                          <a:effectLst/>
                          <a:latin typeface="Times New Roman" panose="02020603050405020304" pitchFamily="18" charset="0"/>
                          <a:ea typeface="+mn-ea"/>
                          <a:cs typeface="Times New Roman" panose="02020603050405020304" pitchFamily="18" charset="0"/>
                        </a:rPr>
                        <a:t>access.This</a:t>
                      </a:r>
                      <a:r>
                        <a:rPr kumimoji="0" lang="en-IN" sz="1300" kern="1200" dirty="0">
                          <a:solidFill>
                            <a:schemeClr val="dk1"/>
                          </a:solidFill>
                          <a:effectLst/>
                          <a:latin typeface="Times New Roman" panose="02020603050405020304" pitchFamily="18" charset="0"/>
                          <a:ea typeface="+mn-ea"/>
                          <a:cs typeface="Times New Roman" panose="02020603050405020304" pitchFamily="18" charset="0"/>
                        </a:rPr>
                        <a:t> project is implemented in Java, making use of conditional statements, loops, and user input handling for efficient </a:t>
                      </a:r>
                      <a:r>
                        <a:rPr kumimoji="0" lang="en-IN" sz="1300" kern="1200" dirty="0" err="1">
                          <a:solidFill>
                            <a:schemeClr val="dk1"/>
                          </a:solidFill>
                          <a:effectLst/>
                          <a:latin typeface="Times New Roman" panose="02020603050405020304" pitchFamily="18" charset="0"/>
                          <a:ea typeface="+mn-ea"/>
                          <a:cs typeface="Times New Roman" panose="02020603050405020304" pitchFamily="18" charset="0"/>
                        </a:rPr>
                        <a:t>execution.The</a:t>
                      </a:r>
                      <a:r>
                        <a:rPr kumimoji="0" lang="en-IN" sz="1300" kern="1200" dirty="0">
                          <a:solidFill>
                            <a:schemeClr val="dk1"/>
                          </a:solidFill>
                          <a:effectLst/>
                          <a:latin typeface="Times New Roman" panose="02020603050405020304" pitchFamily="18" charset="0"/>
                          <a:ea typeface="+mn-ea"/>
                          <a:cs typeface="Times New Roman" panose="02020603050405020304" pitchFamily="18" charset="0"/>
                        </a:rPr>
                        <a:t> model demonstrates the integration of basic banking operations with authentication, which is the core principle behind real-world ATM systems.</a:t>
                      </a:r>
                    </a:p>
                    <a:p>
                      <a:pPr algn="just"/>
                      <a:endParaRPr lang="en-US" sz="1800" dirty="0">
                        <a:solidFill>
                          <a:schemeClr val="tx1"/>
                        </a:solidFill>
                        <a:latin typeface="Times New Roman" pitchFamily="18" charset="0"/>
                        <a:cs typeface="Times New Roman" pitchFamily="18" charset="0"/>
                      </a:endParaRPr>
                    </a:p>
                  </a:txBody>
                  <a:tcPr>
                    <a:solidFill>
                      <a:schemeClr val="bg2"/>
                    </a:solidFill>
                  </a:tcPr>
                </a:tc>
                <a:tc>
                  <a:txBody>
                    <a:bodyPr/>
                    <a:lstStyle/>
                    <a:p>
                      <a:r>
                        <a:rPr lang="en-US" sz="1800" dirty="0">
                          <a:solidFill>
                            <a:schemeClr val="tx1"/>
                          </a:solidFill>
                          <a:latin typeface="Times New Roman" pitchFamily="18" charset="0"/>
                          <a:cs typeface="Times New Roman" pitchFamily="18" charset="0"/>
                        </a:rPr>
                        <a:t>CO1</a:t>
                      </a:r>
                    </a:p>
                    <a:p>
                      <a:r>
                        <a:rPr lang="en-US" sz="1800" dirty="0">
                          <a:solidFill>
                            <a:schemeClr val="tx1"/>
                          </a:solidFill>
                          <a:latin typeface="Times New Roman" pitchFamily="18" charset="0"/>
                          <a:cs typeface="Times New Roman" pitchFamily="18" charset="0"/>
                        </a:rPr>
                        <a:t>CO2</a:t>
                      </a:r>
                    </a:p>
                    <a:p>
                      <a:r>
                        <a:rPr lang="en-US" sz="1800" dirty="0">
                          <a:solidFill>
                            <a:schemeClr val="tx1"/>
                          </a:solidFill>
                          <a:latin typeface="Times New Roman" pitchFamily="18" charset="0"/>
                          <a:cs typeface="Times New Roman" pitchFamily="18" charset="0"/>
                        </a:rPr>
                        <a:t>CO3</a:t>
                      </a:r>
                    </a:p>
                    <a:p>
                      <a:r>
                        <a:rPr lang="en-US" sz="1800" dirty="0">
                          <a:solidFill>
                            <a:schemeClr val="tx1"/>
                          </a:solidFill>
                          <a:latin typeface="Times New Roman" pitchFamily="18" charset="0"/>
                          <a:cs typeface="Times New Roman" pitchFamily="18" charset="0"/>
                        </a:rPr>
                        <a:t>CO4</a:t>
                      </a:r>
                    </a:p>
                  </a:txBody>
                  <a:tcPr>
                    <a:solidFill>
                      <a:schemeClr val="bg2"/>
                    </a:solidFill>
                  </a:tcPr>
                </a:tc>
                <a:tc>
                  <a:txBody>
                    <a:bodyPr/>
                    <a:lstStyle/>
                    <a:p>
                      <a:r>
                        <a:rPr lang="en-US" sz="1800" dirty="0">
                          <a:solidFill>
                            <a:schemeClr val="tx1"/>
                          </a:solidFill>
                          <a:latin typeface="Times New Roman" pitchFamily="18" charset="0"/>
                          <a:cs typeface="Times New Roman" pitchFamily="18" charset="0"/>
                        </a:rPr>
                        <a:t>PO1</a:t>
                      </a:r>
                    </a:p>
                    <a:p>
                      <a:r>
                        <a:rPr lang="en-US" sz="1800" dirty="0">
                          <a:solidFill>
                            <a:schemeClr val="tx1"/>
                          </a:solidFill>
                          <a:latin typeface="Times New Roman" pitchFamily="18" charset="0"/>
                          <a:cs typeface="Times New Roman" pitchFamily="18" charset="0"/>
                        </a:rPr>
                        <a:t>PO2</a:t>
                      </a:r>
                    </a:p>
                    <a:p>
                      <a:r>
                        <a:rPr lang="en-US" sz="1800" dirty="0">
                          <a:solidFill>
                            <a:schemeClr val="tx1"/>
                          </a:solidFill>
                          <a:latin typeface="Times New Roman" pitchFamily="18" charset="0"/>
                          <a:cs typeface="Times New Roman" pitchFamily="18" charset="0"/>
                        </a:rPr>
                        <a:t>PO3</a:t>
                      </a:r>
                    </a:p>
                    <a:p>
                      <a:r>
                        <a:rPr lang="en-US" sz="1800" dirty="0">
                          <a:solidFill>
                            <a:schemeClr val="tx1"/>
                          </a:solidFill>
                          <a:latin typeface="Times New Roman" pitchFamily="18" charset="0"/>
                          <a:cs typeface="Times New Roman" pitchFamily="18" charset="0"/>
                        </a:rPr>
                        <a:t>PO4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itchFamily="18" charset="0"/>
                          <a:cs typeface="Times New Roman" pitchFamily="18" charset="0"/>
                        </a:rPr>
                        <a:t>PO5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itchFamily="18" charset="0"/>
                          <a:cs typeface="Times New Roman" pitchFamily="18" charset="0"/>
                        </a:rPr>
                        <a:t>PO6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itchFamily="18" charset="0"/>
                          <a:cs typeface="Times New Roman" pitchFamily="18" charset="0"/>
                        </a:rPr>
                        <a:t>PO7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Times New Roman" pitchFamily="18" charset="0"/>
                          <a:cs typeface="Times New Roman" pitchFamily="18" charset="0"/>
                        </a:rPr>
                        <a:t>PO8</a:t>
                      </a:r>
                    </a:p>
                    <a:p>
                      <a:r>
                        <a:rPr lang="en-US" sz="1800" dirty="0">
                          <a:solidFill>
                            <a:schemeClr val="tx1"/>
                          </a:solidFill>
                          <a:latin typeface="Times New Roman" pitchFamily="18" charset="0"/>
                          <a:cs typeface="Times New Roman" pitchFamily="18" charset="0"/>
                        </a:rPr>
                        <a:t>PO9</a:t>
                      </a:r>
                    </a:p>
                    <a:p>
                      <a:r>
                        <a:rPr lang="en-US" sz="1800" dirty="0">
                          <a:solidFill>
                            <a:schemeClr val="tx1"/>
                          </a:solidFill>
                          <a:latin typeface="Times New Roman" pitchFamily="18" charset="0"/>
                          <a:cs typeface="Times New Roman" pitchFamily="18" charset="0"/>
                        </a:rPr>
                        <a:t>PO10</a:t>
                      </a:r>
                    </a:p>
                    <a:p>
                      <a:r>
                        <a:rPr lang="en-US" sz="1800" dirty="0">
                          <a:solidFill>
                            <a:schemeClr val="tx1"/>
                          </a:solidFill>
                          <a:latin typeface="Times New Roman" pitchFamily="18" charset="0"/>
                          <a:cs typeface="Times New Roman" pitchFamily="18" charset="0"/>
                        </a:rPr>
                        <a:t>PO11</a:t>
                      </a:r>
                    </a:p>
                    <a:p>
                      <a:r>
                        <a:rPr lang="en-US" sz="1800" dirty="0">
                          <a:solidFill>
                            <a:schemeClr val="tx1"/>
                          </a:solidFill>
                          <a:latin typeface="Times New Roman" pitchFamily="18" charset="0"/>
                          <a:cs typeface="Times New Roman" pitchFamily="18" charset="0"/>
                        </a:rPr>
                        <a:t>PO12</a:t>
                      </a:r>
                    </a:p>
                    <a:p>
                      <a:endParaRPr lang="en-US" sz="1800" dirty="0">
                        <a:solidFill>
                          <a:schemeClr val="tx1"/>
                        </a:solidFill>
                        <a:latin typeface="Times New Roman" pitchFamily="18" charset="0"/>
                        <a:cs typeface="Times New Roman" pitchFamily="18" charset="0"/>
                      </a:endParaRPr>
                    </a:p>
                  </a:txBody>
                  <a:tcPr>
                    <a:solidFill>
                      <a:schemeClr val="bg2"/>
                    </a:solidFill>
                  </a:tcPr>
                </a:tc>
                <a:tc>
                  <a:txBody>
                    <a:bodyPr/>
                    <a:lstStyle/>
                    <a:p>
                      <a:endParaRPr lang="en-US" sz="1800" dirty="0">
                        <a:solidFill>
                          <a:schemeClr val="tx1"/>
                        </a:solidFill>
                        <a:latin typeface="Times New Roman" pitchFamily="18" charset="0"/>
                        <a:cs typeface="Times New Roman" pitchFamily="18" charset="0"/>
                      </a:endParaRPr>
                    </a:p>
                  </a:txBody>
                  <a:tcPr>
                    <a:solidFill>
                      <a:schemeClr val="bg2"/>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62144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F4323-5210-80A9-6891-2FD74992CE91}"/>
              </a:ext>
            </a:extLst>
          </p:cNvPr>
          <p:cNvSpPr>
            <a:spLocks noGrp="1"/>
          </p:cNvSpPr>
          <p:nvPr>
            <p:ph type="title"/>
          </p:nvPr>
        </p:nvSpPr>
        <p:spPr>
          <a:xfrm>
            <a:off x="457200" y="285750"/>
            <a:ext cx="8229600" cy="457200"/>
          </a:xfrm>
          <a:solidFill>
            <a:schemeClr val="bg2">
              <a:lumMod val="75000"/>
            </a:schemeClr>
          </a:solidFill>
        </p:spPr>
        <p:txBody>
          <a:bodyPr>
            <a:noAutofit/>
          </a:bodyPr>
          <a:lstStyle/>
          <a:p>
            <a:pPr algn="ctr"/>
            <a:r>
              <a:rPr lang="en-IN" b="1" dirty="0">
                <a:solidFill>
                  <a:schemeClr val="tx1"/>
                </a:solidFill>
                <a:latin typeface="Times New Roman" pitchFamily="18" charset="0"/>
                <a:cs typeface="Times New Roman" pitchFamily="18" charset="0"/>
              </a:rPr>
              <a:t>Introduction</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CC405221-347E-9CCD-BA88-4C53ECC3746E}"/>
              </a:ext>
            </a:extLst>
          </p:cNvPr>
          <p:cNvSpPr>
            <a:spLocks noGrp="1"/>
          </p:cNvSpPr>
          <p:nvPr>
            <p:ph type="ftr" sz="quarter" idx="11"/>
          </p:nvPr>
        </p:nvSpPr>
        <p:spPr>
          <a:xfrm>
            <a:off x="2743200" y="4767263"/>
            <a:ext cx="4114800" cy="376237"/>
          </a:xfrm>
        </p:spPr>
        <p:txBody>
          <a:bodyPr/>
          <a:lstStyle/>
          <a:p>
            <a:pPr>
              <a:defRPr/>
            </a:pPr>
            <a:r>
              <a:rPr lang="en-US" sz="1200" dirty="0">
                <a:latin typeface="Times New Roman" pitchFamily="18" charset="0"/>
                <a:cs typeface="Times New Roman" pitchFamily="18" charset="0"/>
              </a:rPr>
              <a:t>EGB1201 – JAVA PROGRAMMING –PROJECT REVIEW 3 </a:t>
            </a:r>
          </a:p>
        </p:txBody>
      </p:sp>
      <p:sp>
        <p:nvSpPr>
          <p:cNvPr id="6" name="Slide Number Placeholder 5">
            <a:extLst>
              <a:ext uri="{FF2B5EF4-FFF2-40B4-BE49-F238E27FC236}">
                <a16:creationId xmlns:a16="http://schemas.microsoft.com/office/drawing/2014/main" id="{921C23A5-3836-E986-E59E-625D0AB8CE91}"/>
              </a:ext>
            </a:extLst>
          </p:cNvPr>
          <p:cNvSpPr>
            <a:spLocks noGrp="1"/>
          </p:cNvSpPr>
          <p:nvPr>
            <p:ph type="sldNum" sz="quarter" idx="12"/>
          </p:nvPr>
        </p:nvSpPr>
        <p:spPr/>
        <p:txBody>
          <a:bodyPr/>
          <a:lstStyle/>
          <a:p>
            <a:pPr>
              <a:defRPr/>
            </a:pPr>
            <a:fld id="{0E14ABD8-B1EB-4C07-9937-C8C4E38BDF00}" type="slidenum">
              <a:rPr lang="en-US" altLang="en-US" smtClean="0"/>
              <a:pPr>
                <a:defRPr/>
              </a:pPr>
              <a:t>5</a:t>
            </a:fld>
            <a:endParaRPr lang="en-US" altLang="en-US"/>
          </a:p>
        </p:txBody>
      </p:sp>
      <p:sp>
        <p:nvSpPr>
          <p:cNvPr id="3" name="Content Placeholder 2">
            <a:extLst>
              <a:ext uri="{FF2B5EF4-FFF2-40B4-BE49-F238E27FC236}">
                <a16:creationId xmlns:a16="http://schemas.microsoft.com/office/drawing/2014/main" id="{5753BF69-1C78-F823-3EFC-69FA8564C97F}"/>
              </a:ext>
            </a:extLst>
          </p:cNvPr>
          <p:cNvSpPr>
            <a:spLocks noGrp="1"/>
          </p:cNvSpPr>
          <p:nvPr>
            <p:ph sz="quarter" idx="1"/>
          </p:nvPr>
        </p:nvSpPr>
        <p:spPr/>
        <p:txBody>
          <a:bodyPr>
            <a:normAutofit fontScale="85000" lnSpcReduction="10000"/>
          </a:bodyPr>
          <a:lstStyle/>
          <a:p>
            <a:pPr algn="just">
              <a:lnSpc>
                <a:spcPct val="150000"/>
              </a:lnSpc>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The Banking ATM with PIN Security system is a simple simulation of real-world Automated Teller Machines, designed to provide secure and convenient banking services to customers. </a:t>
            </a:r>
          </a:p>
          <a:p>
            <a:pPr algn="just">
              <a:lnSpc>
                <a:spcPct val="150000"/>
              </a:lnSpc>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An ATM allows users to perform essential transactions such as checking account balance, withdrawing cash, and depositing money without visiting a bank branch.</a:t>
            </a:r>
          </a:p>
          <a:p>
            <a:pPr algn="just">
              <a:lnSpc>
                <a:spcPct val="150000"/>
              </a:lnSpc>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To ensure security, the system uses a Personal Identification Number (PIN) that must be correctly entered before accessing any service.</a:t>
            </a:r>
          </a:p>
          <a:p>
            <a:pPr algn="just">
              <a:lnSpc>
                <a:spcPct val="150000"/>
              </a:lnSpc>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If the PIN entered is incorrect more than three times, the account is temporarily blocked to prevent unauthorized access.</a:t>
            </a:r>
          </a:p>
          <a:p>
            <a:pPr algn="just">
              <a:lnSpc>
                <a:spcPct val="150000"/>
              </a:lnSpc>
              <a:buFont typeface="Wingdings" panose="05000000000000000000" pitchFamily="2" charset="2"/>
              <a:buChar char="Ø"/>
            </a:pPr>
            <a:r>
              <a:rPr lang="en-US" sz="1700" dirty="0">
                <a:latin typeface="Times New Roman" panose="02020603050405020304" pitchFamily="18" charset="0"/>
                <a:cs typeface="Times New Roman" panose="02020603050405020304" pitchFamily="18" charset="0"/>
              </a:rPr>
              <a:t>This project, implemented in Java, demonstrates the integration of user authentication with basic banking operations, highlighting how ATM systems maintain both security and user convenience.</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414699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B6BB-2415-497F-4C70-6A70B013581E}"/>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Java Programming  - Concepts Used</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F55EE2C0-12B3-E6E1-5A16-64A0C6634B04}"/>
              </a:ext>
            </a:extLst>
          </p:cNvPr>
          <p:cNvSpPr>
            <a:spLocks noGrp="1"/>
          </p:cNvSpPr>
          <p:nvPr>
            <p:ph type="ftr" sz="quarter" idx="11"/>
          </p:nvPr>
        </p:nvSpPr>
        <p:spPr>
          <a:xfrm>
            <a:off x="2514600" y="4767263"/>
            <a:ext cx="4035552" cy="376237"/>
          </a:xfrm>
        </p:spPr>
        <p:txBody>
          <a:bodyPr/>
          <a:lstStyle/>
          <a:p>
            <a:pPr>
              <a:defRPr/>
            </a:pPr>
            <a:r>
              <a:rPr lang="en-US" sz="1200" dirty="0">
                <a:latin typeface="Times New Roman" pitchFamily="18" charset="0"/>
                <a:cs typeface="Times New Roman" pitchFamily="18" charset="0"/>
              </a:rPr>
              <a:t>EGB1201 – JAVA PROGRAMMING –PROJECT REVIEW 3 </a:t>
            </a:r>
          </a:p>
        </p:txBody>
      </p:sp>
      <p:sp>
        <p:nvSpPr>
          <p:cNvPr id="6" name="Slide Number Placeholder 5">
            <a:extLst>
              <a:ext uri="{FF2B5EF4-FFF2-40B4-BE49-F238E27FC236}">
                <a16:creationId xmlns:a16="http://schemas.microsoft.com/office/drawing/2014/main" id="{05A628F9-F7CC-2DB8-AAC5-C0EF604976FD}"/>
              </a:ext>
            </a:extLst>
          </p:cNvPr>
          <p:cNvSpPr>
            <a:spLocks noGrp="1"/>
          </p:cNvSpPr>
          <p:nvPr>
            <p:ph type="sldNum" sz="quarter" idx="12"/>
          </p:nvPr>
        </p:nvSpPr>
        <p:spPr/>
        <p:txBody>
          <a:bodyPr/>
          <a:lstStyle/>
          <a:p>
            <a:pPr>
              <a:defRPr/>
            </a:pPr>
            <a:fld id="{0E14ABD8-B1EB-4C07-9937-C8C4E38BDF00}" type="slidenum">
              <a:rPr lang="en-US" altLang="en-US" smtClean="0"/>
              <a:pPr>
                <a:defRPr/>
              </a:pPr>
              <a:t>6</a:t>
            </a:fld>
            <a:endParaRPr lang="en-US" altLang="en-US"/>
          </a:p>
        </p:txBody>
      </p:sp>
      <p:sp>
        <p:nvSpPr>
          <p:cNvPr id="3" name="Content Placeholder 2">
            <a:extLst>
              <a:ext uri="{FF2B5EF4-FFF2-40B4-BE49-F238E27FC236}">
                <a16:creationId xmlns:a16="http://schemas.microsoft.com/office/drawing/2014/main" id="{2AC2A75F-B902-2E39-B132-184CA4C15438}"/>
              </a:ext>
            </a:extLst>
          </p:cNvPr>
          <p:cNvSpPr>
            <a:spLocks noGrp="1"/>
          </p:cNvSpPr>
          <p:nvPr>
            <p:ph sz="quarter" idx="1"/>
          </p:nvPr>
        </p:nvSpPr>
        <p:spPr/>
        <p:txBody>
          <a:bodyPr>
            <a:normAutofit fontScale="85000" lnSpcReduction="20000"/>
          </a:bodyPr>
          <a:lstStyle/>
          <a:p>
            <a:pPr>
              <a:lnSpc>
                <a:spcPct val="150000"/>
              </a:lnSpc>
            </a:pPr>
            <a:r>
              <a:rPr lang="en-IN" sz="1400" b="1" dirty="0">
                <a:latin typeface="Times New Roman" panose="02020603050405020304" pitchFamily="18" charset="0"/>
                <a:cs typeface="Times New Roman" panose="02020603050405020304" pitchFamily="18" charset="0"/>
              </a:rPr>
              <a:t>Conditional Statements (if, else if, switch):</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Used for decision-making during PIN verification and transaction selection.</a:t>
            </a:r>
          </a:p>
          <a:p>
            <a:pPr>
              <a:lnSpc>
                <a:spcPct val="150000"/>
              </a:lnSpc>
            </a:pPr>
            <a:r>
              <a:rPr lang="en-IN" sz="1400" b="1" dirty="0">
                <a:latin typeface="Times New Roman" panose="02020603050405020304" pitchFamily="18" charset="0"/>
                <a:cs typeface="Times New Roman" panose="02020603050405020304" pitchFamily="18" charset="0"/>
              </a:rPr>
              <a:t>Loops (while, for):</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Used to repeat PIN attempts and allow continuous banking operations until exit.</a:t>
            </a:r>
          </a:p>
          <a:p>
            <a:pPr>
              <a:lnSpc>
                <a:spcPct val="150000"/>
              </a:lnSpc>
            </a:pPr>
            <a:r>
              <a:rPr lang="en-IN" sz="1400" b="1" dirty="0">
                <a:latin typeface="Times New Roman" panose="02020603050405020304" pitchFamily="18" charset="0"/>
                <a:cs typeface="Times New Roman" panose="02020603050405020304" pitchFamily="18" charset="0"/>
              </a:rPr>
              <a:t>Classes and Objects: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The project follows Object-Oriented Programming (OOP) principles — ATM, </a:t>
            </a:r>
            <a:r>
              <a:rPr lang="en-IN" sz="1400" dirty="0" err="1">
                <a:latin typeface="Times New Roman" panose="02020603050405020304" pitchFamily="18" charset="0"/>
                <a:cs typeface="Times New Roman" panose="02020603050405020304" pitchFamily="18" charset="0"/>
              </a:rPr>
              <a:t>UserAccount</a:t>
            </a:r>
            <a:r>
              <a:rPr lang="en-IN" sz="1400" dirty="0">
                <a:latin typeface="Times New Roman" panose="02020603050405020304" pitchFamily="18" charset="0"/>
                <a:cs typeface="Times New Roman" panose="02020603050405020304" pitchFamily="18" charset="0"/>
              </a:rPr>
              <a:t>, and Main classes handle modular functionality.</a:t>
            </a:r>
          </a:p>
          <a:p>
            <a:pPr>
              <a:lnSpc>
                <a:spcPct val="150000"/>
              </a:lnSpc>
            </a:pPr>
            <a:r>
              <a:rPr lang="en-IN" sz="1400" b="1" dirty="0">
                <a:latin typeface="Times New Roman" panose="02020603050405020304" pitchFamily="18" charset="0"/>
                <a:cs typeface="Times New Roman" panose="02020603050405020304" pitchFamily="18" charset="0"/>
              </a:rPr>
              <a:t>Methods (Functions):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Functions such as </a:t>
            </a:r>
            <a:r>
              <a:rPr lang="en-IN" sz="1400" dirty="0" err="1">
                <a:latin typeface="Times New Roman" panose="02020603050405020304" pitchFamily="18" charset="0"/>
                <a:cs typeface="Times New Roman" panose="02020603050405020304" pitchFamily="18" charset="0"/>
              </a:rPr>
              <a:t>checkBalance</a:t>
            </a:r>
            <a:r>
              <a:rPr lang="en-IN" sz="1400" dirty="0">
                <a:latin typeface="Times New Roman" panose="02020603050405020304" pitchFamily="18" charset="0"/>
                <a:cs typeface="Times New Roman" panose="02020603050405020304" pitchFamily="18" charset="0"/>
              </a:rPr>
              <a:t>(), deposit(), withdraw() make the code reusable and organized.</a:t>
            </a:r>
          </a:p>
          <a:p>
            <a:pPr>
              <a:lnSpc>
                <a:spcPct val="150000"/>
              </a:lnSpc>
            </a:pPr>
            <a:r>
              <a:rPr lang="en-IN" sz="1400" b="1" dirty="0">
                <a:latin typeface="Times New Roman" panose="02020603050405020304" pitchFamily="18" charset="0"/>
                <a:cs typeface="Times New Roman" panose="02020603050405020304" pitchFamily="18" charset="0"/>
              </a:rPr>
              <a:t>Exception Handling (try–catch):</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Prevents the program from crashing during invalid inputs or withdrawal errors.</a:t>
            </a:r>
          </a:p>
          <a:p>
            <a:pPr>
              <a:lnSpc>
                <a:spcPct val="150000"/>
              </a:lnSpc>
            </a:pPr>
            <a:r>
              <a:rPr lang="en-IN" sz="1400" b="1" dirty="0">
                <a:latin typeface="Times New Roman" panose="02020603050405020304" pitchFamily="18" charset="0"/>
                <a:cs typeface="Times New Roman" panose="02020603050405020304" pitchFamily="18" charset="0"/>
              </a:rPr>
              <a:t>Scanner Class (Input Handling):</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Used to get user input for PIN and transaction choices securely.</a:t>
            </a:r>
          </a:p>
          <a:p>
            <a:pPr>
              <a:buNone/>
            </a:pP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300557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FB43-016D-4DDB-52D8-BCF00F70ED73}"/>
              </a:ext>
            </a:extLst>
          </p:cNvPr>
          <p:cNvSpPr>
            <a:spLocks noGrp="1"/>
          </p:cNvSpPr>
          <p:nvPr>
            <p:ph type="title"/>
          </p:nvPr>
        </p:nvSpPr>
        <p:spPr>
          <a:xfrm>
            <a:off x="381000" y="0"/>
            <a:ext cx="8229600" cy="742950"/>
          </a:xfrm>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Proposed Architecture</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AFAF8B42-1B21-5C6F-AF75-1ADAF6ED8B08}"/>
              </a:ext>
            </a:extLst>
          </p:cNvPr>
          <p:cNvSpPr>
            <a:spLocks noGrp="1"/>
          </p:cNvSpPr>
          <p:nvPr>
            <p:ph type="ftr" sz="quarter" idx="11"/>
          </p:nvPr>
        </p:nvSpPr>
        <p:spPr>
          <a:xfrm>
            <a:off x="2667000" y="4781550"/>
            <a:ext cx="4035552" cy="228599"/>
          </a:xfrm>
        </p:spPr>
        <p:txBody>
          <a:bodyPr/>
          <a:lstStyle/>
          <a:p>
            <a:pPr>
              <a:defRPr/>
            </a:pPr>
            <a:r>
              <a:rPr lang="en-US" sz="1200" dirty="0">
                <a:latin typeface="Times New Roman" pitchFamily="18" charset="0"/>
                <a:cs typeface="Times New Roman" pitchFamily="18" charset="0"/>
              </a:rPr>
              <a:t>EGB1201 – JAVA PROGRAMMING –PROJECT REVIEW 3 </a:t>
            </a:r>
          </a:p>
        </p:txBody>
      </p:sp>
      <p:sp>
        <p:nvSpPr>
          <p:cNvPr id="6" name="Slide Number Placeholder 5">
            <a:extLst>
              <a:ext uri="{FF2B5EF4-FFF2-40B4-BE49-F238E27FC236}">
                <a16:creationId xmlns:a16="http://schemas.microsoft.com/office/drawing/2014/main" id="{5466DEE7-B5D1-AD74-0657-7CAE2D6C0712}"/>
              </a:ext>
            </a:extLst>
          </p:cNvPr>
          <p:cNvSpPr>
            <a:spLocks noGrp="1"/>
          </p:cNvSpPr>
          <p:nvPr>
            <p:ph type="sldNum" sz="quarter" idx="12"/>
          </p:nvPr>
        </p:nvSpPr>
        <p:spPr/>
        <p:txBody>
          <a:bodyPr/>
          <a:lstStyle/>
          <a:p>
            <a:pPr>
              <a:defRPr/>
            </a:pPr>
            <a:fld id="{0E14ABD8-B1EB-4C07-9937-C8C4E38BDF00}" type="slidenum">
              <a:rPr lang="en-US" altLang="en-US" smtClean="0"/>
              <a:pPr>
                <a:defRPr/>
              </a:pPr>
              <a:t>7</a:t>
            </a:fld>
            <a:endParaRPr lang="en-US" altLang="en-US"/>
          </a:p>
        </p:txBody>
      </p:sp>
      <p:sp>
        <p:nvSpPr>
          <p:cNvPr id="7" name="Content Placeholder 6">
            <a:extLst>
              <a:ext uri="{FF2B5EF4-FFF2-40B4-BE49-F238E27FC236}">
                <a16:creationId xmlns:a16="http://schemas.microsoft.com/office/drawing/2014/main" id="{5C52F0AD-5831-2E14-5BC5-92BE3FC7B0E7}"/>
              </a:ext>
            </a:extLst>
          </p:cNvPr>
          <p:cNvSpPr>
            <a:spLocks noGrp="1"/>
          </p:cNvSpPr>
          <p:nvPr>
            <p:ph sz="quarter" idx="1"/>
          </p:nvPr>
        </p:nvSpPr>
        <p:spPr/>
        <p:txBody>
          <a:bodyPr>
            <a:normAutofit lnSpcReduction="10000"/>
          </a:bodyPr>
          <a:lstStyle/>
          <a:p>
            <a:pPr algn="just">
              <a:lnSpc>
                <a:spcPct val="150000"/>
              </a:lnSpc>
            </a:pPr>
            <a:endParaRPr lang="en-US" sz="1700" dirty="0">
              <a:latin typeface="Times New Roman" panose="02020603050405020304" pitchFamily="18" charset="0"/>
              <a:cs typeface="Times New Roman" panose="02020603050405020304" pitchFamily="18" charset="0"/>
            </a:endParaRPr>
          </a:p>
          <a:p>
            <a:pPr algn="just">
              <a:lnSpc>
                <a:spcPct val="150000"/>
              </a:lnSpc>
            </a:pPr>
            <a:r>
              <a:rPr lang="en-US" sz="1700" dirty="0">
                <a:latin typeface="Times New Roman" panose="02020603050405020304" pitchFamily="18" charset="0"/>
                <a:cs typeface="Times New Roman" panose="02020603050405020304" pitchFamily="18" charset="0"/>
              </a:rPr>
              <a:t>The proposed architecture of the Banking ATM with PIN Security system is designed with three main layers the user interface layer, which allows customers to interact with the system by entering their PIN and selecting services</a:t>
            </a:r>
          </a:p>
          <a:p>
            <a:pPr algn="just">
              <a:lnSpc>
                <a:spcPct val="150000"/>
              </a:lnSpc>
            </a:pPr>
            <a:r>
              <a:rPr lang="en-US" sz="1700" dirty="0">
                <a:latin typeface="Times New Roman" panose="02020603050405020304" pitchFamily="18" charset="0"/>
                <a:cs typeface="Times New Roman" panose="02020603050405020304" pitchFamily="18" charset="0"/>
              </a:rPr>
              <a:t>The authentication layer, which verifies the entered PIN and restricts access after three failed attempts to ensure security and the transaction processing layer, which handles core banking functions such as balance inquiry, cash withdrawal, and deposit.</a:t>
            </a:r>
          </a:p>
          <a:p>
            <a:pPr algn="just">
              <a:lnSpc>
                <a:spcPct val="150000"/>
              </a:lnSpc>
            </a:pPr>
            <a:r>
              <a:rPr lang="en-US" sz="1700" dirty="0">
                <a:latin typeface="Times New Roman" panose="02020603050405020304" pitchFamily="18" charset="0"/>
                <a:cs typeface="Times New Roman" panose="02020603050405020304" pitchFamily="18" charset="0"/>
              </a:rPr>
              <a:t>This architecture provides a secure, efficient, and user-friendly way to simulate ATM operations using Java programming.</a:t>
            </a:r>
            <a:endParaRPr lang="en-IN" sz="1700" dirty="0">
              <a:latin typeface="Times New Roman" pitchFamily="18" charset="0"/>
              <a:cs typeface="Times New Roman" pitchFamily="18" charset="0"/>
            </a:endParaRPr>
          </a:p>
          <a:p>
            <a:pPr>
              <a:lnSpc>
                <a:spcPct val="150000"/>
              </a:lnSpc>
            </a:pPr>
            <a:endParaRPr lang="en-IN" sz="1700"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77718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3E8D-3F63-8ED5-2478-E9C00D1B15F2}"/>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Proposed Architecture - Description</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10EB4194-110F-D7FD-0DF4-398A93C90EAF}"/>
              </a:ext>
            </a:extLst>
          </p:cNvPr>
          <p:cNvSpPr>
            <a:spLocks noGrp="1"/>
          </p:cNvSpPr>
          <p:nvPr>
            <p:ph type="ftr" sz="quarter" idx="11"/>
          </p:nvPr>
        </p:nvSpPr>
        <p:spPr>
          <a:xfrm>
            <a:off x="2743200" y="4767263"/>
            <a:ext cx="4191000" cy="376237"/>
          </a:xfrm>
        </p:spPr>
        <p:txBody>
          <a:bodyPr/>
          <a:lstStyle/>
          <a:p>
            <a:pPr>
              <a:defRPr/>
            </a:pPr>
            <a:r>
              <a:rPr lang="en-US" sz="1200" dirty="0">
                <a:latin typeface="Times New Roman" pitchFamily="18" charset="0"/>
                <a:cs typeface="Times New Roman" pitchFamily="18" charset="0"/>
              </a:rPr>
              <a:t>EGB1201 – JAVA PROGRAMMING –PROJECT REVIEW 3 </a:t>
            </a:r>
          </a:p>
        </p:txBody>
      </p:sp>
      <p:sp>
        <p:nvSpPr>
          <p:cNvPr id="6" name="Slide Number Placeholder 5">
            <a:extLst>
              <a:ext uri="{FF2B5EF4-FFF2-40B4-BE49-F238E27FC236}">
                <a16:creationId xmlns:a16="http://schemas.microsoft.com/office/drawing/2014/main" id="{9C1B7B88-F6CF-BB6D-6BBC-27F7045B413C}"/>
              </a:ext>
            </a:extLst>
          </p:cNvPr>
          <p:cNvSpPr>
            <a:spLocks noGrp="1"/>
          </p:cNvSpPr>
          <p:nvPr>
            <p:ph type="sldNum" sz="quarter" idx="12"/>
          </p:nvPr>
        </p:nvSpPr>
        <p:spPr/>
        <p:txBody>
          <a:bodyPr/>
          <a:lstStyle/>
          <a:p>
            <a:pPr>
              <a:defRPr/>
            </a:pPr>
            <a:fld id="{0E14ABD8-B1EB-4C07-9937-C8C4E38BDF00}" type="slidenum">
              <a:rPr lang="en-US" altLang="en-US" smtClean="0"/>
              <a:pPr>
                <a:defRPr/>
              </a:pPr>
              <a:t>8</a:t>
            </a:fld>
            <a:endParaRPr lang="en-US" altLang="en-US"/>
          </a:p>
        </p:txBody>
      </p:sp>
      <p:sp>
        <p:nvSpPr>
          <p:cNvPr id="3" name="Content Placeholder 2">
            <a:extLst>
              <a:ext uri="{FF2B5EF4-FFF2-40B4-BE49-F238E27FC236}">
                <a16:creationId xmlns:a16="http://schemas.microsoft.com/office/drawing/2014/main" id="{CC760B63-A96A-6A6A-36D0-908FBAB9B943}"/>
              </a:ext>
            </a:extLst>
          </p:cNvPr>
          <p:cNvSpPr>
            <a:spLocks noGrp="1"/>
          </p:cNvSpPr>
          <p:nvPr>
            <p:ph sz="quarter" idx="1"/>
          </p:nvPr>
        </p:nvSpPr>
        <p:spPr/>
        <p:txBody>
          <a:bodyPr>
            <a:normAutofit lnSpcReduction="10000"/>
          </a:bodyPr>
          <a:lstStyle/>
          <a:p>
            <a:pPr algn="just"/>
            <a:endParaRPr lang="en-US" sz="2800" dirty="0"/>
          </a:p>
          <a:p>
            <a:pPr algn="just">
              <a:lnSpc>
                <a:spcPct val="150000"/>
              </a:lnSpc>
            </a:pPr>
            <a:r>
              <a:rPr lang="en-US" sz="1700" dirty="0">
                <a:latin typeface="Times New Roman" panose="02020603050405020304" pitchFamily="18" charset="0"/>
                <a:cs typeface="Times New Roman" panose="02020603050405020304" pitchFamily="18" charset="0"/>
              </a:rPr>
              <a:t>The proposed architecture of the Banking ATM with PIN Security system is designed with three main layers the user interface layer, which allows customers to interact with the system by entering their PIN and selecting services</a:t>
            </a:r>
          </a:p>
          <a:p>
            <a:pPr algn="just">
              <a:lnSpc>
                <a:spcPct val="150000"/>
              </a:lnSpc>
            </a:pPr>
            <a:r>
              <a:rPr lang="en-US" sz="1700" dirty="0">
                <a:latin typeface="Times New Roman" panose="02020603050405020304" pitchFamily="18" charset="0"/>
                <a:cs typeface="Times New Roman" panose="02020603050405020304" pitchFamily="18" charset="0"/>
              </a:rPr>
              <a:t>The authentication layer, which verifies the entered PIN and restricts access after three failed attempts to ensure security and the transaction processing layer, which handles core banking functions such as balance inquiry, cash withdrawal, and deposit.</a:t>
            </a:r>
          </a:p>
          <a:p>
            <a:pPr algn="just">
              <a:lnSpc>
                <a:spcPct val="150000"/>
              </a:lnSpc>
            </a:pPr>
            <a:r>
              <a:rPr lang="en-US" sz="1700" dirty="0">
                <a:latin typeface="Times New Roman" panose="02020603050405020304" pitchFamily="18" charset="0"/>
                <a:cs typeface="Times New Roman" panose="02020603050405020304" pitchFamily="18" charset="0"/>
              </a:rPr>
              <a:t>This architecture provides a secure, efficient, and user-friendly way to simulate ATM operations using Java programming.</a:t>
            </a:r>
            <a:endParaRPr lang="en-IN" sz="1700" dirty="0">
              <a:latin typeface="Times New Roman" pitchFamily="18" charset="0"/>
              <a:cs typeface="Times New Roman" pitchFamily="18" charset="0"/>
            </a:endParaRPr>
          </a:p>
          <a:p>
            <a:endParaRPr lang="en-IN" sz="2800"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458201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DCA39-F852-6A6D-B959-E7D4008CDFD0}"/>
              </a:ext>
            </a:extLst>
          </p:cNvPr>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Proposed Architecture  - Description (Cont..)</a:t>
            </a:r>
            <a:endParaRPr lang="en-IN" sz="4000" b="1" dirty="0">
              <a:solidFill>
                <a:schemeClr val="tx1"/>
              </a:solidFill>
              <a:latin typeface="Times New Roman" pitchFamily="18" charset="0"/>
              <a:cs typeface="Times New Roman" pitchFamily="18" charset="0"/>
            </a:endParaRPr>
          </a:p>
        </p:txBody>
      </p:sp>
      <p:sp>
        <p:nvSpPr>
          <p:cNvPr id="5" name="Footer Placeholder 4">
            <a:extLst>
              <a:ext uri="{FF2B5EF4-FFF2-40B4-BE49-F238E27FC236}">
                <a16:creationId xmlns:a16="http://schemas.microsoft.com/office/drawing/2014/main" id="{309F3ECE-CD24-3541-396C-569C1553B48B}"/>
              </a:ext>
            </a:extLst>
          </p:cNvPr>
          <p:cNvSpPr>
            <a:spLocks noGrp="1"/>
          </p:cNvSpPr>
          <p:nvPr>
            <p:ph type="ftr" sz="quarter" idx="11"/>
          </p:nvPr>
        </p:nvSpPr>
        <p:spPr>
          <a:xfrm>
            <a:off x="2895600" y="4767263"/>
            <a:ext cx="4035552" cy="376237"/>
          </a:xfrm>
        </p:spPr>
        <p:txBody>
          <a:bodyPr/>
          <a:lstStyle/>
          <a:p>
            <a:pPr>
              <a:defRPr/>
            </a:pPr>
            <a:r>
              <a:rPr lang="en-US" sz="1200" dirty="0">
                <a:latin typeface="Times New Roman" pitchFamily="18" charset="0"/>
                <a:cs typeface="Times New Roman" pitchFamily="18" charset="0"/>
              </a:rPr>
              <a:t>EGB1201 – JAVA PROGRAMMING –PROJECT REVIEW 3 </a:t>
            </a:r>
          </a:p>
        </p:txBody>
      </p:sp>
      <p:sp>
        <p:nvSpPr>
          <p:cNvPr id="6" name="Slide Number Placeholder 5">
            <a:extLst>
              <a:ext uri="{FF2B5EF4-FFF2-40B4-BE49-F238E27FC236}">
                <a16:creationId xmlns:a16="http://schemas.microsoft.com/office/drawing/2014/main" id="{F2A74E67-274F-57B0-F638-7412ED223D3F}"/>
              </a:ext>
            </a:extLst>
          </p:cNvPr>
          <p:cNvSpPr>
            <a:spLocks noGrp="1"/>
          </p:cNvSpPr>
          <p:nvPr>
            <p:ph type="sldNum" sz="quarter" idx="12"/>
          </p:nvPr>
        </p:nvSpPr>
        <p:spPr/>
        <p:txBody>
          <a:bodyPr/>
          <a:lstStyle/>
          <a:p>
            <a:pPr>
              <a:defRPr/>
            </a:pPr>
            <a:fld id="{0E14ABD8-B1EB-4C07-9937-C8C4E38BDF00}" type="slidenum">
              <a:rPr lang="en-US" altLang="en-US" smtClean="0"/>
              <a:pPr>
                <a:defRPr/>
              </a:pPr>
              <a:t>9</a:t>
            </a:fld>
            <a:endParaRPr lang="en-US" altLang="en-US"/>
          </a:p>
        </p:txBody>
      </p:sp>
      <p:sp>
        <p:nvSpPr>
          <p:cNvPr id="3" name="Content Placeholder 2">
            <a:extLst>
              <a:ext uri="{FF2B5EF4-FFF2-40B4-BE49-F238E27FC236}">
                <a16:creationId xmlns:a16="http://schemas.microsoft.com/office/drawing/2014/main" id="{F49DAC3F-E57C-3018-3D68-7A5417F75691}"/>
              </a:ext>
            </a:extLst>
          </p:cNvPr>
          <p:cNvSpPr>
            <a:spLocks noGrp="1"/>
          </p:cNvSpPr>
          <p:nvPr>
            <p:ph sz="quarter" idx="1"/>
          </p:nvPr>
        </p:nvSpPr>
        <p:spPr/>
        <p:txBody>
          <a:bodyPr>
            <a:normAutofit fontScale="92500" lnSpcReduction="20000"/>
          </a:bodyPr>
          <a:lstStyle/>
          <a:p>
            <a:pPr>
              <a:lnSpc>
                <a:spcPct val="150000"/>
              </a:lnSpc>
            </a:pPr>
            <a:r>
              <a:rPr lang="en-IN" sz="1800" dirty="0">
                <a:latin typeface="Times New Roman" panose="02020603050405020304" pitchFamily="18" charset="0"/>
                <a:cs typeface="Times New Roman" panose="02020603050405020304" pitchFamily="18" charset="0"/>
              </a:rPr>
              <a:t>The Banking ATM with PIN Security project is structured into three major layers:</a:t>
            </a:r>
          </a:p>
          <a:p>
            <a:pPr>
              <a:lnSpc>
                <a:spcPct val="150000"/>
              </a:lnSpc>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User Interface Layer</a:t>
            </a:r>
            <a:endParaRPr lang="en-IN" sz="1800"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Handles user interactions through the console.</a:t>
            </a:r>
          </a:p>
          <a:p>
            <a:pPr lvl="1">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Displays transaction options and collects user inputs.</a:t>
            </a:r>
          </a:p>
          <a:p>
            <a:pPr lvl="1">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Uses the Scanner class for input.</a:t>
            </a:r>
          </a:p>
          <a:p>
            <a:pPr>
              <a:lnSpc>
                <a:spcPct val="150000"/>
              </a:lnSpc>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Authentication Layer</a:t>
            </a:r>
            <a:endParaRPr lang="en-IN" sz="1800"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Verifies the entered PIN with stored PIN data.</a:t>
            </a:r>
          </a:p>
          <a:p>
            <a:pPr lvl="1">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Allows a maximum of 3 attempts.</a:t>
            </a:r>
          </a:p>
          <a:p>
            <a:pPr lvl="1">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If the PIN fails three times, access is blocked using conditional logic.</a:t>
            </a:r>
          </a:p>
          <a:p>
            <a:endParaRPr lang="en-IN" dirty="0">
              <a:latin typeface="Times New Roman" pitchFamily="18" charset="0"/>
              <a:cs typeface="Times New Roman" pitchFamily="18" charset="0"/>
            </a:endParaRPr>
          </a:p>
          <a:p>
            <a:pPr algn="just"/>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259449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0E8CD-B6C3-C340-0D91-BCD437C40468}"/>
              </a:ext>
            </a:extLst>
          </p:cNvPr>
          <p:cNvSpPr>
            <a:spLocks noGrp="1"/>
          </p:cNvSpPr>
          <p:nvPr>
            <p:ph type="title"/>
          </p:nvPr>
        </p:nvSpPr>
        <p:spPr>
          <a:xfrm>
            <a:off x="457200" y="82550"/>
            <a:ext cx="8229600" cy="742950"/>
          </a:xfrm>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List of Modules</a:t>
            </a:r>
          </a:p>
        </p:txBody>
      </p:sp>
      <p:sp>
        <p:nvSpPr>
          <p:cNvPr id="5" name="Footer Placeholder 4">
            <a:extLst>
              <a:ext uri="{FF2B5EF4-FFF2-40B4-BE49-F238E27FC236}">
                <a16:creationId xmlns:a16="http://schemas.microsoft.com/office/drawing/2014/main" id="{4D95C9AB-6F24-D9B7-D1F9-29164BA10B30}"/>
              </a:ext>
            </a:extLst>
          </p:cNvPr>
          <p:cNvSpPr>
            <a:spLocks noGrp="1"/>
          </p:cNvSpPr>
          <p:nvPr>
            <p:ph type="ftr" sz="quarter" idx="11"/>
          </p:nvPr>
        </p:nvSpPr>
        <p:spPr>
          <a:xfrm>
            <a:off x="3124200" y="4767263"/>
            <a:ext cx="4038600" cy="376237"/>
          </a:xfrm>
        </p:spPr>
        <p:txBody>
          <a:bodyPr/>
          <a:lstStyle/>
          <a:p>
            <a:pPr>
              <a:defRPr/>
            </a:pPr>
            <a:r>
              <a:rPr lang="en-US" sz="1200" dirty="0">
                <a:latin typeface="Times New Roman" pitchFamily="18" charset="0"/>
                <a:cs typeface="Times New Roman" pitchFamily="18" charset="0"/>
              </a:rPr>
              <a:t>EGB1201 – JAVA PROGRAMMING –PROJECT REVIEW 3 </a:t>
            </a:r>
          </a:p>
        </p:txBody>
      </p:sp>
      <p:sp>
        <p:nvSpPr>
          <p:cNvPr id="6" name="Slide Number Placeholder 5">
            <a:extLst>
              <a:ext uri="{FF2B5EF4-FFF2-40B4-BE49-F238E27FC236}">
                <a16:creationId xmlns:a16="http://schemas.microsoft.com/office/drawing/2014/main" id="{2A144F88-4A41-564C-4A77-41044675C317}"/>
              </a:ext>
            </a:extLst>
          </p:cNvPr>
          <p:cNvSpPr>
            <a:spLocks noGrp="1"/>
          </p:cNvSpPr>
          <p:nvPr>
            <p:ph type="sldNum" sz="quarter" idx="12"/>
          </p:nvPr>
        </p:nvSpPr>
        <p:spPr/>
        <p:txBody>
          <a:bodyPr/>
          <a:lstStyle/>
          <a:p>
            <a:pPr>
              <a:defRPr/>
            </a:pPr>
            <a:fld id="{0E14ABD8-B1EB-4C07-9937-C8C4E38BDF00}" type="slidenum">
              <a:rPr lang="en-US" altLang="en-US" smtClean="0"/>
              <a:pPr>
                <a:defRPr/>
              </a:pPr>
              <a:t>10</a:t>
            </a:fld>
            <a:endParaRPr lang="en-US" altLang="en-US"/>
          </a:p>
        </p:txBody>
      </p:sp>
      <p:pic>
        <p:nvPicPr>
          <p:cNvPr id="9" name="Content Placeholder 8">
            <a:extLst>
              <a:ext uri="{FF2B5EF4-FFF2-40B4-BE49-F238E27FC236}">
                <a16:creationId xmlns:a16="http://schemas.microsoft.com/office/drawing/2014/main" id="{1E39B0B7-0E97-B085-C703-A2BDBCF507B5}"/>
              </a:ext>
            </a:extLst>
          </p:cNvPr>
          <p:cNvPicPr>
            <a:picLocks noGrp="1" noChangeAspect="1"/>
          </p:cNvPicPr>
          <p:nvPr>
            <p:ph sz="quarter" idx="1"/>
          </p:nvPr>
        </p:nvPicPr>
        <p:blipFill>
          <a:blip r:embed="rId2"/>
          <a:stretch>
            <a:fillRect/>
          </a:stretch>
        </p:blipFill>
        <p:spPr>
          <a:xfrm>
            <a:off x="706696" y="914400"/>
            <a:ext cx="7730608" cy="3703638"/>
          </a:xfrm>
        </p:spPr>
      </p:pic>
    </p:spTree>
    <p:extLst>
      <p:ext uri="{BB962C8B-B14F-4D97-AF65-F5344CB8AC3E}">
        <p14:creationId xmlns:p14="http://schemas.microsoft.com/office/powerpoint/2010/main" val="3538875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Module Description</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pPr>
              <a:defRPr/>
            </a:pPr>
            <a:r>
              <a:rPr lang="en-US" sz="1000" dirty="0">
                <a:latin typeface="Times New Roman" panose="02020603050405020304" pitchFamily="18" charset="0"/>
                <a:cs typeface="Times New Roman" panose="02020603050405020304" pitchFamily="18" charset="0"/>
              </a:rPr>
              <a:t>EGB1201 – JAVA PROGRAMMING –PROJECT REVIEW 3 </a:t>
            </a: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11</a:t>
            </a:fld>
            <a:endParaRPr lang="en-US" altLang="en-US"/>
          </a:p>
        </p:txBody>
      </p:sp>
      <p:sp>
        <p:nvSpPr>
          <p:cNvPr id="5" name="Content Placeholder 4"/>
          <p:cNvSpPr>
            <a:spLocks noGrp="1"/>
          </p:cNvSpPr>
          <p:nvPr>
            <p:ph sz="quarter" idx="1"/>
          </p:nvPr>
        </p:nvSpPr>
        <p:spPr/>
        <p:txBody>
          <a:bodyPr>
            <a:normAutofit lnSpcReduction="10000"/>
          </a:bodyPr>
          <a:lstStyle/>
          <a:p>
            <a:pPr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Login Module :</a:t>
            </a:r>
          </a:p>
          <a:p>
            <a:pPr marL="0" indent="0" eaLnBrk="0" fontAlgn="base" hangingPunct="0">
              <a:lnSpc>
                <a:spcPct val="150000"/>
              </a:lnSpc>
              <a:spcBef>
                <a:spcPct val="0"/>
              </a:spcBef>
              <a:spcAft>
                <a:spcPct val="0"/>
              </a:spcAft>
              <a:buClrTx/>
              <a:buSzTx/>
              <a:buNone/>
            </a:pP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Verifies user PIN and limits attempts to three.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Transaction Module</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None/>
              <a:tabLst/>
            </a:pPr>
            <a:r>
              <a:rPr lang="en-US" altLang="en-US" sz="1700" dirty="0">
                <a:latin typeface="Times New Roman" panose="02020603050405020304" pitchFamily="18" charset="0"/>
                <a:cs typeface="Times New Roman" panose="02020603050405020304" pitchFamily="18" charset="0"/>
              </a:rPr>
              <a:t>		</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Handles deposit, withdrawal, balance inquiry, and exit.</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Module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safe access and blocks after failed attempts.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Module :</a:t>
            </a:r>
          </a:p>
          <a:p>
            <a:pPr marL="0" marR="0" lvl="0" indent="0" algn="l" defTabSz="914400" rtl="0" eaLnBrk="0" fontAlgn="base" latinLnBrk="0" hangingPunct="0">
              <a:lnSpc>
                <a:spcPct val="150000"/>
              </a:lnSpc>
              <a:spcBef>
                <a:spcPct val="0"/>
              </a:spcBef>
              <a:spcAft>
                <a:spcPct val="0"/>
              </a:spcAft>
              <a:buClrTx/>
              <a:buSzTx/>
              <a:buNone/>
              <a:tabLst/>
            </a:pPr>
            <a:r>
              <a:rPr lang="en-US" altLang="en-US" sz="1700" dirty="0">
                <a:latin typeface="Times New Roman" panose="02020603050405020304" pitchFamily="18" charset="0"/>
                <a:cs typeface="Times New Roman" panose="02020603050405020304" pitchFamily="18" charset="0"/>
              </a:rPr>
              <a:t>		</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Shows menus, messages, and transaction results.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Account Module :</a:t>
            </a:r>
          </a:p>
          <a:p>
            <a:pPr marL="0" marR="0" lvl="0" indent="0" algn="l" defTabSz="914400" rtl="0" eaLnBrk="0" fontAlgn="base" latinLnBrk="0" hangingPunct="0">
              <a:lnSpc>
                <a:spcPct val="150000"/>
              </a:lnSpc>
              <a:spcBef>
                <a:spcPct val="0"/>
              </a:spcBef>
              <a:spcAft>
                <a:spcPct val="0"/>
              </a:spcAft>
              <a:buClrTx/>
              <a:buSzTx/>
              <a:buNone/>
              <a:tabLst/>
            </a:pPr>
            <a:r>
              <a:rPr lang="en-US" altLang="en-US" sz="1700" dirty="0">
                <a:latin typeface="Times New Roman" panose="02020603050405020304" pitchFamily="18" charset="0"/>
                <a:cs typeface="Times New Roman" panose="02020603050405020304" pitchFamily="18" charset="0"/>
              </a:rPr>
              <a:t>		</a:t>
            </a:r>
            <a:r>
              <a:rPr kumimoji="0" lang="en-US" altLang="en-US" sz="1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Maintains and updates user account balance.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Module Description (Cont..)</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pPr>
              <a:defRPr/>
            </a:pPr>
            <a:r>
              <a:rPr lang="en-US" sz="1000" dirty="0">
                <a:latin typeface="Times New Roman" panose="02020603050405020304" pitchFamily="18" charset="0"/>
                <a:cs typeface="Times New Roman" panose="02020603050405020304" pitchFamily="18" charset="0"/>
              </a:rPr>
              <a:t>EGB1201 – JAVA PROGRAMMING –PROJECT REVIEW 3 </a:t>
            </a: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12</a:t>
            </a:fld>
            <a:endParaRPr lang="en-US" altLang="en-US"/>
          </a:p>
        </p:txBody>
      </p:sp>
      <p:sp>
        <p:nvSpPr>
          <p:cNvPr id="5" name="Content Placeholder 4"/>
          <p:cNvSpPr>
            <a:spLocks noGrp="1"/>
          </p:cNvSpPr>
          <p:nvPr>
            <p:ph sz="quarter" idx="1"/>
          </p:nvPr>
        </p:nvSpPr>
        <p:spPr/>
        <p:txBody>
          <a:bodyPr>
            <a:normAutofit fontScale="85000" lnSpcReduction="10000"/>
          </a:bodyPr>
          <a:lstStyle/>
          <a:p>
            <a:pPr>
              <a:lnSpc>
                <a:spcPct val="150000"/>
              </a:lnSpc>
            </a:pPr>
            <a:endParaRPr lang="en-IN" sz="1700" b="1" dirty="0">
              <a:latin typeface="Times New Roman" panose="02020603050405020304" pitchFamily="18" charset="0"/>
              <a:cs typeface="Times New Roman" panose="02020603050405020304" pitchFamily="18" charset="0"/>
            </a:endParaRPr>
          </a:p>
          <a:p>
            <a:pPr>
              <a:lnSpc>
                <a:spcPct val="150000"/>
              </a:lnSpc>
            </a:pPr>
            <a:r>
              <a:rPr lang="en-IN" sz="1700" b="1" dirty="0">
                <a:latin typeface="Times New Roman" panose="02020603050405020304" pitchFamily="18" charset="0"/>
                <a:cs typeface="Times New Roman" panose="02020603050405020304" pitchFamily="18" charset="0"/>
              </a:rPr>
              <a:t>Input Handling Module</a:t>
            </a: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a:t>
            </a:r>
          </a:p>
          <a:p>
            <a:pPr marL="0" indent="0">
              <a:lnSpc>
                <a:spcPct val="150000"/>
              </a:lnSpc>
              <a:buNone/>
            </a:pPr>
            <a:r>
              <a:rPr lang="en-IN" sz="1700" b="1" dirty="0">
                <a:latin typeface="Times New Roman" panose="02020603050405020304" pitchFamily="18" charset="0"/>
                <a:cs typeface="Times New Roman" panose="02020603050405020304" pitchFamily="18" charset="0"/>
              </a:rPr>
              <a:t>		</a:t>
            </a:r>
            <a:r>
              <a:rPr lang="en-IN" sz="1700" dirty="0">
                <a:latin typeface="Times New Roman" panose="02020603050405020304" pitchFamily="18" charset="0"/>
                <a:cs typeface="Times New Roman" panose="02020603050405020304" pitchFamily="18" charset="0"/>
              </a:rPr>
              <a:t> Uses Scanner class to read user input safely.</a:t>
            </a:r>
          </a:p>
          <a:p>
            <a:pPr>
              <a:lnSpc>
                <a:spcPct val="150000"/>
              </a:lnSpc>
            </a:pPr>
            <a:r>
              <a:rPr lang="en-IN" sz="1700" b="1" dirty="0">
                <a:latin typeface="Times New Roman" panose="02020603050405020304" pitchFamily="18" charset="0"/>
                <a:cs typeface="Times New Roman" panose="02020603050405020304" pitchFamily="18" charset="0"/>
              </a:rPr>
              <a:t>Validation Module</a:t>
            </a: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a:t>
            </a:r>
          </a:p>
          <a:p>
            <a:pPr marL="0" indent="0">
              <a:lnSpc>
                <a:spcPct val="150000"/>
              </a:lnSpc>
              <a:buNone/>
            </a:pPr>
            <a:r>
              <a:rPr lang="en-IN" sz="1700" dirty="0">
                <a:latin typeface="Times New Roman" panose="02020603050405020304" pitchFamily="18" charset="0"/>
                <a:cs typeface="Times New Roman" panose="02020603050405020304" pitchFamily="18" charset="0"/>
              </a:rPr>
              <a:t>		Checks for invalid entries or insufficient balance.</a:t>
            </a:r>
          </a:p>
          <a:p>
            <a:pPr>
              <a:lnSpc>
                <a:spcPct val="150000"/>
              </a:lnSpc>
            </a:pPr>
            <a:r>
              <a:rPr lang="en-IN" sz="1700" b="1" dirty="0">
                <a:latin typeface="Times New Roman" panose="02020603050405020304" pitchFamily="18" charset="0"/>
                <a:cs typeface="Times New Roman" panose="02020603050405020304" pitchFamily="18" charset="0"/>
              </a:rPr>
              <a:t>Utility Module</a:t>
            </a: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a:t>
            </a:r>
          </a:p>
          <a:p>
            <a:pPr marL="0" indent="0">
              <a:lnSpc>
                <a:spcPct val="150000"/>
              </a:lnSpc>
              <a:buNone/>
            </a:pPr>
            <a:r>
              <a:rPr lang="en-IN" sz="1700" dirty="0">
                <a:latin typeface="Times New Roman" panose="02020603050405020304" pitchFamily="18" charset="0"/>
                <a:cs typeface="Times New Roman" panose="02020603050405020304" pitchFamily="18" charset="0"/>
              </a:rPr>
              <a:t>		 Supports reusable functions for calculations and updates.</a:t>
            </a:r>
          </a:p>
          <a:p>
            <a:pPr>
              <a:lnSpc>
                <a:spcPct val="150000"/>
              </a:lnSpc>
            </a:pPr>
            <a:r>
              <a:rPr lang="en-IN" sz="1700" b="1" dirty="0">
                <a:latin typeface="Times New Roman" panose="02020603050405020304" pitchFamily="18" charset="0"/>
                <a:cs typeface="Times New Roman" panose="02020603050405020304" pitchFamily="18" charset="0"/>
              </a:rPr>
              <a:t>Exit Module</a:t>
            </a:r>
            <a:r>
              <a:rPr lang="en-IN" sz="1700" dirty="0">
                <a:latin typeface="Times New Roman" panose="02020603050405020304" pitchFamily="18" charset="0"/>
                <a:cs typeface="Times New Roman" panose="02020603050405020304" pitchFamily="18" charset="0"/>
              </a:rPr>
              <a:t> </a:t>
            </a:r>
            <a:r>
              <a:rPr lang="en-IN" sz="1700" b="1" dirty="0">
                <a:latin typeface="Times New Roman" panose="02020603050405020304" pitchFamily="18" charset="0"/>
                <a:cs typeface="Times New Roman" panose="02020603050405020304" pitchFamily="18" charset="0"/>
              </a:rPr>
              <a:t>:</a:t>
            </a:r>
          </a:p>
          <a:p>
            <a:pPr marL="0" indent="0">
              <a:lnSpc>
                <a:spcPct val="150000"/>
              </a:lnSpc>
              <a:buNone/>
            </a:pPr>
            <a:r>
              <a:rPr lang="en-IN" sz="1700" dirty="0">
                <a:latin typeface="Times New Roman" panose="02020603050405020304" pitchFamily="18" charset="0"/>
                <a:cs typeface="Times New Roman" panose="02020603050405020304" pitchFamily="18" charset="0"/>
              </a:rPr>
              <a:t>		Allows the user to securely end the session and display a thank-you message.</a:t>
            </a:r>
          </a:p>
          <a:p>
            <a:pPr>
              <a:lnSpc>
                <a:spcPct val="150000"/>
              </a:lnSpc>
            </a:pPr>
            <a:endParaRPr lang="en-US" sz="17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Results and Discussion</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pPr>
              <a:defRPr/>
            </a:pPr>
            <a:r>
              <a:rPr lang="en-US" sz="1000" dirty="0">
                <a:latin typeface="Times New Roman" panose="02020603050405020304" pitchFamily="18" charset="0"/>
                <a:cs typeface="Times New Roman" panose="02020603050405020304" pitchFamily="18" charset="0"/>
              </a:rPr>
              <a:t>EGB1201 – JAVA PROGRAMMING –PROJECT REVIEW 3</a:t>
            </a: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13</a:t>
            </a:fld>
            <a:endParaRPr lang="en-US" altLang="en-US"/>
          </a:p>
        </p:txBody>
      </p:sp>
      <p:sp>
        <p:nvSpPr>
          <p:cNvPr id="5" name="Content Placeholder 4"/>
          <p:cNvSpPr>
            <a:spLocks noGrp="1"/>
          </p:cNvSpPr>
          <p:nvPr>
            <p:ph sz="quarter" idx="1"/>
          </p:nvPr>
        </p:nvSpPr>
        <p:spPr/>
        <p:txBody>
          <a:bodyPr>
            <a:normAutofit fontScale="92500" lnSpcReduction="10000"/>
          </a:bodyPr>
          <a:lstStyle/>
          <a:p>
            <a:pPr>
              <a:lnSpc>
                <a:spcPct val="150000"/>
              </a:lnSpc>
            </a:pPr>
            <a:endParaRPr lang="en-IN" sz="1700" dirty="0">
              <a:latin typeface="Times New Roman" panose="02020603050405020304" pitchFamily="18" charset="0"/>
              <a:cs typeface="Times New Roman" panose="02020603050405020304" pitchFamily="18" charset="0"/>
            </a:endParaRPr>
          </a:p>
          <a:p>
            <a:pPr>
              <a:lnSpc>
                <a:spcPct val="150000"/>
              </a:lnSpc>
            </a:pPr>
            <a:r>
              <a:rPr lang="en-IN" sz="1700" dirty="0">
                <a:latin typeface="Times New Roman" panose="02020603050405020304" pitchFamily="18" charset="0"/>
                <a:cs typeface="Times New Roman" panose="02020603050405020304" pitchFamily="18" charset="0"/>
              </a:rPr>
              <a:t>The system successfully simulates an ATM environment using Java.</a:t>
            </a:r>
          </a:p>
          <a:p>
            <a:pPr>
              <a:lnSpc>
                <a:spcPct val="150000"/>
              </a:lnSpc>
            </a:pPr>
            <a:r>
              <a:rPr lang="en-IN" sz="1700" dirty="0">
                <a:latin typeface="Times New Roman" panose="02020603050405020304" pitchFamily="18" charset="0"/>
                <a:cs typeface="Times New Roman" panose="02020603050405020304" pitchFamily="18" charset="0"/>
              </a:rPr>
              <a:t>Users can authenticate with a PIN and perform operations like deposit, withdrawal, and balance inquiry.</a:t>
            </a:r>
          </a:p>
          <a:p>
            <a:pPr>
              <a:lnSpc>
                <a:spcPct val="150000"/>
              </a:lnSpc>
            </a:pPr>
            <a:r>
              <a:rPr lang="en-IN" sz="1700" dirty="0">
                <a:latin typeface="Times New Roman" panose="02020603050405020304" pitchFamily="18" charset="0"/>
                <a:cs typeface="Times New Roman" panose="02020603050405020304" pitchFamily="18" charset="0"/>
              </a:rPr>
              <a:t>The security feature effectively blocks access after three failed PIN attempts.</a:t>
            </a:r>
          </a:p>
          <a:p>
            <a:pPr>
              <a:lnSpc>
                <a:spcPct val="150000"/>
              </a:lnSpc>
            </a:pPr>
            <a:r>
              <a:rPr lang="en-IN" sz="1700" dirty="0">
                <a:latin typeface="Times New Roman" panose="02020603050405020304" pitchFamily="18" charset="0"/>
                <a:cs typeface="Times New Roman" panose="02020603050405020304" pitchFamily="18" charset="0"/>
              </a:rPr>
              <a:t>The program demonstrates efficient use of Java concepts such as loops, conditionals, and exception handling.</a:t>
            </a:r>
          </a:p>
          <a:p>
            <a:pPr>
              <a:lnSpc>
                <a:spcPct val="150000"/>
              </a:lnSpc>
            </a:pPr>
            <a:r>
              <a:rPr lang="en-IN" sz="1700" dirty="0">
                <a:latin typeface="Times New Roman" panose="02020603050405020304" pitchFamily="18" charset="0"/>
                <a:cs typeface="Times New Roman" panose="02020603050405020304" pitchFamily="18" charset="0"/>
              </a:rPr>
              <a:t>Results show accurate balance updates and smooth user interaction.</a:t>
            </a:r>
          </a:p>
          <a:p>
            <a:pPr>
              <a:lnSpc>
                <a:spcPct val="150000"/>
              </a:lnSpc>
            </a:pPr>
            <a:r>
              <a:rPr lang="en-IN" sz="1700" dirty="0">
                <a:latin typeface="Times New Roman" panose="02020603050405020304" pitchFamily="18" charset="0"/>
                <a:cs typeface="Times New Roman" panose="02020603050405020304" pitchFamily="18" charset="0"/>
              </a:rPr>
              <a:t>The system provides a simple, secure, and user-friendly interface for banking simulations.</a:t>
            </a:r>
          </a:p>
          <a:p>
            <a:pPr>
              <a:lnSpc>
                <a:spcPct val="150000"/>
              </a:lnSpc>
            </a:pPr>
            <a:endParaRPr lang="en-US"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Results and Discussion (Cont..)</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pPr algn="ctr">
              <a:defRPr/>
            </a:pPr>
            <a:r>
              <a:rPr lang="en-US" sz="1000" dirty="0">
                <a:latin typeface="Times New Roman" panose="02020603050405020304" pitchFamily="18" charset="0"/>
                <a:cs typeface="Times New Roman" panose="02020603050405020304" pitchFamily="18" charset="0"/>
              </a:rPr>
              <a:t>EGB1201 – JAVA PROGRAMMING  PROJECT REVIEW 3 </a:t>
            </a: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14</a:t>
            </a:fld>
            <a:endParaRPr lang="en-US" altLang="en-US"/>
          </a:p>
        </p:txBody>
      </p:sp>
      <p:sp>
        <p:nvSpPr>
          <p:cNvPr id="5" name="Content Placeholder 4"/>
          <p:cNvSpPr>
            <a:spLocks noGrp="1"/>
          </p:cNvSpPr>
          <p:nvPr>
            <p:ph sz="quarter" idx="1"/>
          </p:nvPr>
        </p:nvSpPr>
        <p:spPr/>
        <p:txBody>
          <a:bodyPr>
            <a:normAutofit/>
          </a:bodyPr>
          <a:lstStyle/>
          <a:p>
            <a:pPr>
              <a:lnSpc>
                <a:spcPct val="150000"/>
              </a:lnSpc>
            </a:pPr>
            <a:endParaRPr lang="en-IN" sz="1700" dirty="0">
              <a:latin typeface="Times New Roman" panose="02020603050405020304" pitchFamily="18" charset="0"/>
              <a:cs typeface="Times New Roman" panose="02020603050405020304" pitchFamily="18" charset="0"/>
            </a:endParaRPr>
          </a:p>
          <a:p>
            <a:pPr>
              <a:lnSpc>
                <a:spcPct val="150000"/>
              </a:lnSpc>
            </a:pPr>
            <a:r>
              <a:rPr lang="en-IN" sz="1700" dirty="0">
                <a:latin typeface="Times New Roman" panose="02020603050405020304" pitchFamily="18" charset="0"/>
                <a:cs typeface="Times New Roman" panose="02020603050405020304" pitchFamily="18" charset="0"/>
              </a:rPr>
              <a:t>The project ensures data security through PIN-based authentication.</a:t>
            </a:r>
          </a:p>
          <a:p>
            <a:pPr>
              <a:lnSpc>
                <a:spcPct val="150000"/>
              </a:lnSpc>
            </a:pPr>
            <a:r>
              <a:rPr lang="en-IN" sz="1700" dirty="0">
                <a:latin typeface="Times New Roman" panose="02020603050405020304" pitchFamily="18" charset="0"/>
                <a:cs typeface="Times New Roman" panose="02020603050405020304" pitchFamily="18" charset="0"/>
              </a:rPr>
              <a:t>Error handling prevents crashes during invalid inputs or withdrawals.</a:t>
            </a:r>
          </a:p>
          <a:p>
            <a:pPr>
              <a:lnSpc>
                <a:spcPct val="150000"/>
              </a:lnSpc>
            </a:pPr>
            <a:r>
              <a:rPr lang="en-IN" sz="1700" dirty="0">
                <a:latin typeface="Times New Roman" panose="02020603050405020304" pitchFamily="18" charset="0"/>
                <a:cs typeface="Times New Roman" panose="02020603050405020304" pitchFamily="18" charset="0"/>
              </a:rPr>
              <a:t>The architecture proves modular and extendable for future upgrades.</a:t>
            </a:r>
          </a:p>
          <a:p>
            <a:pPr>
              <a:lnSpc>
                <a:spcPct val="150000"/>
              </a:lnSpc>
            </a:pPr>
            <a:r>
              <a:rPr lang="en-IN" sz="1700" dirty="0">
                <a:latin typeface="Times New Roman" panose="02020603050405020304" pitchFamily="18" charset="0"/>
                <a:cs typeface="Times New Roman" panose="02020603050405020304" pitchFamily="18" charset="0"/>
              </a:rPr>
              <a:t>Demonstrates real-world ATM logic effectively in a Java console program.</a:t>
            </a:r>
          </a:p>
          <a:p>
            <a:pPr>
              <a:lnSpc>
                <a:spcPct val="150000"/>
              </a:lnSpc>
            </a:pPr>
            <a:r>
              <a:rPr lang="en-IN" sz="1700" dirty="0">
                <a:latin typeface="Times New Roman" panose="02020603050405020304" pitchFamily="18" charset="0"/>
                <a:cs typeface="Times New Roman" panose="02020603050405020304" pitchFamily="18" charset="0"/>
              </a:rPr>
              <a:t>Enhances understanding of OOP concepts and user interaction in Java.</a:t>
            </a:r>
          </a:p>
          <a:p>
            <a:pPr>
              <a:lnSpc>
                <a:spcPct val="150000"/>
              </a:lnSpc>
            </a:pPr>
            <a:endParaRPr lang="en-US" sz="1700" dirty="0">
              <a:latin typeface="Times New Roman" panose="02020603050405020304" pitchFamily="18" charset="0"/>
              <a:cs typeface="Times New Roman" panose="02020603050405020304" pitchFamily="18" charset="0"/>
            </a:endParaRPr>
          </a:p>
          <a:p>
            <a:pPr algn="just">
              <a:lnSpc>
                <a:spcPct val="150000"/>
              </a:lnSpc>
            </a:pPr>
            <a:endParaRPr lang="en-US"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75000"/>
            </a:schemeClr>
          </a:solidFill>
        </p:spPr>
        <p:txBody>
          <a:bodyPr>
            <a:normAutofit/>
          </a:bodyPr>
          <a:lstStyle/>
          <a:p>
            <a:pPr algn="ctr"/>
            <a:r>
              <a:rPr lang="en-IN" b="1" dirty="0">
                <a:solidFill>
                  <a:schemeClr val="tx1"/>
                </a:solidFill>
                <a:latin typeface="Times New Roman" pitchFamily="18" charset="0"/>
                <a:cs typeface="Times New Roman" pitchFamily="18" charset="0"/>
              </a:rPr>
              <a:t>Conclusion</a:t>
            </a:r>
            <a:endParaRPr lang="en-US" b="1" dirty="0">
              <a:solidFill>
                <a:schemeClr val="tx1"/>
              </a:solidFill>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pPr algn="ctr">
              <a:defRPr/>
            </a:pPr>
            <a:r>
              <a:rPr lang="en-US" sz="1000" dirty="0">
                <a:latin typeface="Times New Roman" panose="02020603050405020304" pitchFamily="18" charset="0"/>
                <a:cs typeface="Times New Roman" panose="02020603050405020304" pitchFamily="18" charset="0"/>
              </a:rPr>
              <a:t>EGB1201 – JAVA PROGRAMMING –PROJECT REVIEW 3 </a:t>
            </a:r>
          </a:p>
        </p:txBody>
      </p:sp>
      <p:sp>
        <p:nvSpPr>
          <p:cNvPr id="4" name="Slide Number Placeholder 3"/>
          <p:cNvSpPr>
            <a:spLocks noGrp="1"/>
          </p:cNvSpPr>
          <p:nvPr>
            <p:ph type="sldNum" sz="quarter" idx="12"/>
          </p:nvPr>
        </p:nvSpPr>
        <p:spPr/>
        <p:txBody>
          <a:bodyPr/>
          <a:lstStyle/>
          <a:p>
            <a:pPr>
              <a:defRPr/>
            </a:pPr>
            <a:fld id="{0E14ABD8-B1EB-4C07-9937-C8C4E38BDF00}" type="slidenum">
              <a:rPr lang="en-US" altLang="en-US" smtClean="0"/>
              <a:pPr>
                <a:defRPr/>
              </a:pPr>
              <a:t>15</a:t>
            </a:fld>
            <a:endParaRPr lang="en-US" altLang="en-US"/>
          </a:p>
        </p:txBody>
      </p:sp>
      <p:sp>
        <p:nvSpPr>
          <p:cNvPr id="5" name="Content Placeholder 4"/>
          <p:cNvSpPr>
            <a:spLocks noGrp="1"/>
          </p:cNvSpPr>
          <p:nvPr>
            <p:ph sz="quarter" idx="1"/>
          </p:nvPr>
        </p:nvSpPr>
        <p:spPr/>
        <p:txBody>
          <a:bodyPr>
            <a:normAutofit/>
          </a:bodyPr>
          <a:lstStyle/>
          <a:p>
            <a:pPr marL="0" lvl="0" indent="0" algn="just" eaLnBrk="0" fontAlgn="base" hangingPunct="0">
              <a:lnSpc>
                <a:spcPct val="150000"/>
              </a:lnSpc>
              <a:spcBef>
                <a:spcPct val="0"/>
              </a:spcBef>
              <a:spcAft>
                <a:spcPct val="0"/>
              </a:spcAft>
              <a:buClrTx/>
              <a:buSzTx/>
              <a:buNone/>
            </a:pPr>
            <a:r>
              <a:rPr lang="en-US" altLang="en-US" sz="1700" dirty="0">
                <a:latin typeface="Times New Roman" panose="02020603050405020304" pitchFamily="18" charset="0"/>
                <a:cs typeface="Times New Roman" panose="02020603050405020304" pitchFamily="18" charset="0"/>
              </a:rPr>
              <a:t>The project successfully simulates an ATM system with secure PIN authentication.</a:t>
            </a:r>
          </a:p>
          <a:p>
            <a:pPr marL="0" lvl="0" indent="0" algn="just" eaLnBrk="0" fontAlgn="base" hangingPunct="0">
              <a:lnSpc>
                <a:spcPct val="150000"/>
              </a:lnSpc>
              <a:spcBef>
                <a:spcPct val="0"/>
              </a:spcBef>
              <a:spcAft>
                <a:spcPct val="0"/>
              </a:spcAft>
              <a:buClrTx/>
              <a:buSzTx/>
              <a:buNone/>
            </a:pPr>
            <a:r>
              <a:rPr lang="en-US" altLang="en-US" sz="1700" dirty="0">
                <a:latin typeface="Times New Roman" panose="02020603050405020304" pitchFamily="18" charset="0"/>
                <a:cs typeface="Times New Roman" panose="02020603050405020304" pitchFamily="18" charset="0"/>
              </a:rPr>
              <a:t>It demonstrates the practical use of Java programming concepts such as loops, </a:t>
            </a:r>
          </a:p>
          <a:p>
            <a:pPr marL="0" lvl="0" indent="0" algn="just" eaLnBrk="0" fontAlgn="base" hangingPunct="0">
              <a:lnSpc>
                <a:spcPct val="150000"/>
              </a:lnSpc>
              <a:spcBef>
                <a:spcPct val="0"/>
              </a:spcBef>
              <a:spcAft>
                <a:spcPct val="0"/>
              </a:spcAft>
              <a:buClrTx/>
              <a:buSzTx/>
              <a:buNone/>
            </a:pPr>
            <a:r>
              <a:rPr lang="en-US" altLang="en-US" sz="1700" dirty="0">
                <a:latin typeface="Times New Roman" panose="02020603050405020304" pitchFamily="18" charset="0"/>
                <a:cs typeface="Times New Roman" panose="02020603050405020304" pitchFamily="18" charset="0"/>
              </a:rPr>
              <a:t>conditionals, and </a:t>
            </a:r>
            <a:r>
              <a:rPr lang="en-US" altLang="en-US" sz="1700" dirty="0" err="1">
                <a:latin typeface="Times New Roman" panose="02020603050405020304" pitchFamily="18" charset="0"/>
                <a:cs typeface="Times New Roman" panose="02020603050405020304" pitchFamily="18" charset="0"/>
              </a:rPr>
              <a:t>classes.Ensures</a:t>
            </a:r>
            <a:r>
              <a:rPr lang="en-US" altLang="en-US" sz="1700" dirty="0">
                <a:latin typeface="Times New Roman" panose="02020603050405020304" pitchFamily="18" charset="0"/>
                <a:cs typeface="Times New Roman" panose="02020603050405020304" pitchFamily="18" charset="0"/>
              </a:rPr>
              <a:t> security and accuracy in banking operations like</a:t>
            </a:r>
          </a:p>
          <a:p>
            <a:pPr marL="0" lvl="0" indent="0" algn="just" eaLnBrk="0" fontAlgn="base" hangingPunct="0">
              <a:lnSpc>
                <a:spcPct val="150000"/>
              </a:lnSpc>
              <a:spcBef>
                <a:spcPct val="0"/>
              </a:spcBef>
              <a:spcAft>
                <a:spcPct val="0"/>
              </a:spcAft>
              <a:buClrTx/>
              <a:buSzTx/>
              <a:buNone/>
            </a:pPr>
            <a:r>
              <a:rPr lang="en-US" altLang="en-US" sz="1700" dirty="0">
                <a:latin typeface="Times New Roman" panose="02020603050405020304" pitchFamily="18" charset="0"/>
                <a:cs typeface="Times New Roman" panose="02020603050405020304" pitchFamily="18" charset="0"/>
              </a:rPr>
              <a:t>deposit, withdrawal, and balance </a:t>
            </a:r>
            <a:r>
              <a:rPr lang="en-US" altLang="en-US" sz="1700" dirty="0" err="1">
                <a:latin typeface="Times New Roman" panose="02020603050405020304" pitchFamily="18" charset="0"/>
                <a:cs typeface="Times New Roman" panose="02020603050405020304" pitchFamily="18" charset="0"/>
              </a:rPr>
              <a:t>inquiry.Provides</a:t>
            </a:r>
            <a:r>
              <a:rPr lang="en-US" altLang="en-US" sz="1700" dirty="0">
                <a:latin typeface="Times New Roman" panose="02020603050405020304" pitchFamily="18" charset="0"/>
                <a:cs typeface="Times New Roman" panose="02020603050405020304" pitchFamily="18" charset="0"/>
              </a:rPr>
              <a:t> a user-friendly and efficient </a:t>
            </a:r>
          </a:p>
          <a:p>
            <a:pPr marL="0" lvl="0" indent="0" algn="just" eaLnBrk="0" fontAlgn="base" hangingPunct="0">
              <a:lnSpc>
                <a:spcPct val="150000"/>
              </a:lnSpc>
              <a:spcBef>
                <a:spcPct val="0"/>
              </a:spcBef>
              <a:spcAft>
                <a:spcPct val="0"/>
              </a:spcAft>
              <a:buClrTx/>
              <a:buSzTx/>
              <a:buNone/>
            </a:pPr>
            <a:r>
              <a:rPr lang="en-US" altLang="en-US" sz="1700" dirty="0">
                <a:latin typeface="Times New Roman" panose="02020603050405020304" pitchFamily="18" charset="0"/>
                <a:cs typeface="Times New Roman" panose="02020603050405020304" pitchFamily="18" charset="0"/>
              </a:rPr>
              <a:t>interface for performing </a:t>
            </a:r>
            <a:r>
              <a:rPr lang="en-US" altLang="en-US" sz="1700" dirty="0" err="1">
                <a:latin typeface="Times New Roman" panose="02020603050405020304" pitchFamily="18" charset="0"/>
                <a:cs typeface="Times New Roman" panose="02020603050405020304" pitchFamily="18" charset="0"/>
              </a:rPr>
              <a:t>transactions.Can</a:t>
            </a:r>
            <a:r>
              <a:rPr lang="en-US" altLang="en-US" sz="1700" dirty="0">
                <a:latin typeface="Times New Roman" panose="02020603050405020304" pitchFamily="18" charset="0"/>
                <a:cs typeface="Times New Roman" panose="02020603050405020304" pitchFamily="18" charset="0"/>
              </a:rPr>
              <a:t> be further enhanced with database</a:t>
            </a:r>
          </a:p>
          <a:p>
            <a:pPr marL="0" lvl="0" indent="0" algn="just" eaLnBrk="0" fontAlgn="base" hangingPunct="0">
              <a:lnSpc>
                <a:spcPct val="150000"/>
              </a:lnSpc>
              <a:spcBef>
                <a:spcPct val="0"/>
              </a:spcBef>
              <a:spcAft>
                <a:spcPct val="0"/>
              </a:spcAft>
              <a:buClrTx/>
              <a:buSzTx/>
              <a:buNone/>
            </a:pPr>
            <a:r>
              <a:rPr lang="en-US" altLang="en-US" sz="1700" dirty="0">
                <a:latin typeface="Times New Roman" panose="02020603050405020304" pitchFamily="18" charset="0"/>
                <a:cs typeface="Times New Roman" panose="02020603050405020304" pitchFamily="18" charset="0"/>
              </a:rPr>
              <a:t> connectivity and GUI integration in future versions.</a:t>
            </a:r>
          </a:p>
          <a:p>
            <a:pPr marL="0" marR="0" lvl="0" indent="0" algn="just" defTabSz="914400" rtl="0" eaLnBrk="0" fontAlgn="base" latinLnBrk="0" hangingPunct="0">
              <a:lnSpc>
                <a:spcPct val="150000"/>
              </a:lnSpc>
              <a:spcBef>
                <a:spcPct val="0"/>
              </a:spcBef>
              <a:spcAft>
                <a:spcPct val="0"/>
              </a:spcAft>
              <a:buClrTx/>
              <a:buSzTx/>
              <a:buNone/>
              <a:tabLst/>
            </a:pPr>
            <a:endParaRPr kumimoji="0" lang="en-US" altLang="en-US" sz="17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nSpc>
                <a:spcPct val="150000"/>
              </a:lnSpc>
              <a:buNone/>
            </a:pPr>
            <a:endParaRPr lang="en-US"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23E77-7C22-4F0B-B652-45003D1090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DCF53-890C-31C5-5B2B-BE25F258B824}"/>
              </a:ext>
            </a:extLst>
          </p:cNvPr>
          <p:cNvSpPr>
            <a:spLocks noGrp="1"/>
          </p:cNvSpPr>
          <p:nvPr>
            <p:ph type="title"/>
          </p:nvPr>
        </p:nvSpPr>
        <p:spPr>
          <a:solidFill>
            <a:schemeClr val="bg2">
              <a:lumMod val="75000"/>
            </a:schemeClr>
          </a:solidFill>
        </p:spPr>
        <p:txBody>
          <a:bodyPr>
            <a:normAutofit/>
          </a:bodyPr>
          <a:lstStyle/>
          <a:p>
            <a:pPr algn="ctr"/>
            <a:r>
              <a:rPr lang="en-US" b="1" dirty="0">
                <a:solidFill>
                  <a:schemeClr val="tx1"/>
                </a:solidFill>
                <a:latin typeface="Times New Roman" pitchFamily="18" charset="0"/>
                <a:cs typeface="Times New Roman" pitchFamily="18" charset="0"/>
              </a:rPr>
              <a:t>CODING</a:t>
            </a:r>
          </a:p>
        </p:txBody>
      </p:sp>
      <p:sp>
        <p:nvSpPr>
          <p:cNvPr id="3" name="Footer Placeholder 2">
            <a:extLst>
              <a:ext uri="{FF2B5EF4-FFF2-40B4-BE49-F238E27FC236}">
                <a16:creationId xmlns:a16="http://schemas.microsoft.com/office/drawing/2014/main" id="{B687A8D3-CE30-248F-2A51-44B5BCE00303}"/>
              </a:ext>
            </a:extLst>
          </p:cNvPr>
          <p:cNvSpPr>
            <a:spLocks noGrp="1"/>
          </p:cNvSpPr>
          <p:nvPr>
            <p:ph type="ftr" sz="quarter" idx="11"/>
          </p:nvPr>
        </p:nvSpPr>
        <p:spPr/>
        <p:txBody>
          <a:bodyPr/>
          <a:lstStyle/>
          <a:p>
            <a:pPr algn="ctr">
              <a:defRPr/>
            </a:pPr>
            <a:r>
              <a:rPr lang="en-US" sz="1000" dirty="0">
                <a:latin typeface="Times New Roman" panose="02020603050405020304" pitchFamily="18" charset="0"/>
                <a:cs typeface="Times New Roman" panose="02020603050405020304" pitchFamily="18" charset="0"/>
              </a:rPr>
              <a:t>EGB1201 – JAVA PROGRAMMING –PROJECT REVIEW 3 </a:t>
            </a:r>
          </a:p>
        </p:txBody>
      </p:sp>
      <p:sp>
        <p:nvSpPr>
          <p:cNvPr id="4" name="Slide Number Placeholder 3">
            <a:extLst>
              <a:ext uri="{FF2B5EF4-FFF2-40B4-BE49-F238E27FC236}">
                <a16:creationId xmlns:a16="http://schemas.microsoft.com/office/drawing/2014/main" id="{2CD840A8-5912-4ABA-E2D4-9449082780C1}"/>
              </a:ext>
            </a:extLst>
          </p:cNvPr>
          <p:cNvSpPr>
            <a:spLocks noGrp="1"/>
          </p:cNvSpPr>
          <p:nvPr>
            <p:ph type="sldNum" sz="quarter" idx="12"/>
          </p:nvPr>
        </p:nvSpPr>
        <p:spPr/>
        <p:txBody>
          <a:bodyPr/>
          <a:lstStyle/>
          <a:p>
            <a:pPr>
              <a:defRPr/>
            </a:pPr>
            <a:fld id="{0E14ABD8-B1EB-4C07-9937-C8C4E38BDF00}" type="slidenum">
              <a:rPr lang="en-US" altLang="en-US" smtClean="0"/>
              <a:pPr>
                <a:defRPr/>
              </a:pPr>
              <a:t>16</a:t>
            </a:fld>
            <a:endParaRPr lang="en-US" altLang="en-US"/>
          </a:p>
        </p:txBody>
      </p:sp>
      <p:pic>
        <p:nvPicPr>
          <p:cNvPr id="10" name="Content Placeholder 9">
            <a:extLst>
              <a:ext uri="{FF2B5EF4-FFF2-40B4-BE49-F238E27FC236}">
                <a16:creationId xmlns:a16="http://schemas.microsoft.com/office/drawing/2014/main" id="{8244A0BD-06C1-7DB8-64B8-D5C5B313B854}"/>
              </a:ext>
            </a:extLst>
          </p:cNvPr>
          <p:cNvPicPr>
            <a:picLocks noGrp="1" noChangeAspect="1"/>
          </p:cNvPicPr>
          <p:nvPr>
            <p:ph sz="quarter" idx="1"/>
          </p:nvPr>
        </p:nvPicPr>
        <p:blipFill>
          <a:blip r:embed="rId2"/>
          <a:stretch>
            <a:fillRect/>
          </a:stretch>
        </p:blipFill>
        <p:spPr>
          <a:xfrm>
            <a:off x="510645" y="935153"/>
            <a:ext cx="2388003" cy="3703638"/>
          </a:xfrm>
        </p:spPr>
      </p:pic>
      <p:pic>
        <p:nvPicPr>
          <p:cNvPr id="12" name="Picture 11">
            <a:extLst>
              <a:ext uri="{FF2B5EF4-FFF2-40B4-BE49-F238E27FC236}">
                <a16:creationId xmlns:a16="http://schemas.microsoft.com/office/drawing/2014/main" id="{D4C92017-FDC8-7438-618C-CB4EC7F6325E}"/>
              </a:ext>
            </a:extLst>
          </p:cNvPr>
          <p:cNvPicPr>
            <a:picLocks noChangeAspect="1"/>
          </p:cNvPicPr>
          <p:nvPr/>
        </p:nvPicPr>
        <p:blipFill>
          <a:blip r:embed="rId3"/>
          <a:stretch>
            <a:fillRect/>
          </a:stretch>
        </p:blipFill>
        <p:spPr>
          <a:xfrm>
            <a:off x="3006436" y="968865"/>
            <a:ext cx="2590800" cy="3686782"/>
          </a:xfrm>
          <a:prstGeom prst="rect">
            <a:avLst/>
          </a:prstGeom>
        </p:spPr>
      </p:pic>
      <p:pic>
        <p:nvPicPr>
          <p:cNvPr id="16" name="Picture 15">
            <a:extLst>
              <a:ext uri="{FF2B5EF4-FFF2-40B4-BE49-F238E27FC236}">
                <a16:creationId xmlns:a16="http://schemas.microsoft.com/office/drawing/2014/main" id="{F8D5D2B0-A0EF-7062-B960-76D59BE46695}"/>
              </a:ext>
            </a:extLst>
          </p:cNvPr>
          <p:cNvPicPr>
            <a:picLocks noChangeAspect="1"/>
          </p:cNvPicPr>
          <p:nvPr/>
        </p:nvPicPr>
        <p:blipFill>
          <a:blip r:embed="rId4"/>
          <a:stretch>
            <a:fillRect/>
          </a:stretch>
        </p:blipFill>
        <p:spPr>
          <a:xfrm>
            <a:off x="5649900" y="935154"/>
            <a:ext cx="2863718" cy="3720494"/>
          </a:xfrm>
          <a:prstGeom prst="rect">
            <a:avLst/>
          </a:prstGeom>
        </p:spPr>
      </p:pic>
    </p:spTree>
    <p:extLst>
      <p:ext uri="{BB962C8B-B14F-4D97-AF65-F5344CB8AC3E}">
        <p14:creationId xmlns:p14="http://schemas.microsoft.com/office/powerpoint/2010/main" val="668370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98AC4-62DC-BCBE-941D-B012C0E4F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8D893-70E3-64B0-9770-846755EA4647}"/>
              </a:ext>
            </a:extLst>
          </p:cNvPr>
          <p:cNvSpPr>
            <a:spLocks noGrp="1"/>
          </p:cNvSpPr>
          <p:nvPr>
            <p:ph type="title"/>
          </p:nvPr>
        </p:nvSpPr>
        <p:spPr>
          <a:solidFill>
            <a:schemeClr val="bg2">
              <a:lumMod val="75000"/>
            </a:schemeClr>
          </a:solidFill>
        </p:spPr>
        <p:txBody>
          <a:bodyPr>
            <a:normAutofit/>
          </a:bodyPr>
          <a:lstStyle/>
          <a:p>
            <a:pPr algn="ctr"/>
            <a:r>
              <a:rPr lang="en-US" b="1" dirty="0">
                <a:solidFill>
                  <a:schemeClr val="tx1"/>
                </a:solidFill>
                <a:latin typeface="Times New Roman" pitchFamily="18" charset="0"/>
                <a:cs typeface="Times New Roman" pitchFamily="18" charset="0"/>
              </a:rPr>
              <a:t>CODING</a:t>
            </a:r>
          </a:p>
        </p:txBody>
      </p:sp>
      <p:sp>
        <p:nvSpPr>
          <p:cNvPr id="3" name="Footer Placeholder 2">
            <a:extLst>
              <a:ext uri="{FF2B5EF4-FFF2-40B4-BE49-F238E27FC236}">
                <a16:creationId xmlns:a16="http://schemas.microsoft.com/office/drawing/2014/main" id="{702FEC6C-D615-AF58-A9A6-2B5DE05A492D}"/>
              </a:ext>
            </a:extLst>
          </p:cNvPr>
          <p:cNvSpPr>
            <a:spLocks noGrp="1"/>
          </p:cNvSpPr>
          <p:nvPr>
            <p:ph type="ftr" sz="quarter" idx="11"/>
          </p:nvPr>
        </p:nvSpPr>
        <p:spPr/>
        <p:txBody>
          <a:bodyPr/>
          <a:lstStyle/>
          <a:p>
            <a:pPr algn="ctr">
              <a:defRPr/>
            </a:pPr>
            <a:r>
              <a:rPr lang="en-US" sz="1000" dirty="0">
                <a:latin typeface="Times New Roman" panose="02020603050405020304" pitchFamily="18" charset="0"/>
                <a:cs typeface="Times New Roman" panose="02020603050405020304" pitchFamily="18" charset="0"/>
              </a:rPr>
              <a:t>EGB1201 – JAVA PROGRAMMING –PROJECT REVIEW 3 </a:t>
            </a:r>
          </a:p>
        </p:txBody>
      </p:sp>
      <p:sp>
        <p:nvSpPr>
          <p:cNvPr id="4" name="Slide Number Placeholder 3">
            <a:extLst>
              <a:ext uri="{FF2B5EF4-FFF2-40B4-BE49-F238E27FC236}">
                <a16:creationId xmlns:a16="http://schemas.microsoft.com/office/drawing/2014/main" id="{625A8BBD-79BE-A3AD-A8F1-87474C6E1B77}"/>
              </a:ext>
            </a:extLst>
          </p:cNvPr>
          <p:cNvSpPr>
            <a:spLocks noGrp="1"/>
          </p:cNvSpPr>
          <p:nvPr>
            <p:ph type="sldNum" sz="quarter" idx="12"/>
          </p:nvPr>
        </p:nvSpPr>
        <p:spPr/>
        <p:txBody>
          <a:bodyPr/>
          <a:lstStyle/>
          <a:p>
            <a:pPr>
              <a:defRPr/>
            </a:pPr>
            <a:fld id="{0E14ABD8-B1EB-4C07-9937-C8C4E38BDF00}" type="slidenum">
              <a:rPr lang="en-US" altLang="en-US" smtClean="0"/>
              <a:pPr>
                <a:defRPr/>
              </a:pPr>
              <a:t>17</a:t>
            </a:fld>
            <a:endParaRPr lang="en-US" altLang="en-US"/>
          </a:p>
        </p:txBody>
      </p:sp>
      <p:pic>
        <p:nvPicPr>
          <p:cNvPr id="16" name="Content Placeholder 15">
            <a:extLst>
              <a:ext uri="{FF2B5EF4-FFF2-40B4-BE49-F238E27FC236}">
                <a16:creationId xmlns:a16="http://schemas.microsoft.com/office/drawing/2014/main" id="{C8B04ED0-B9FB-2DF6-8215-226A9CDF3228}"/>
              </a:ext>
            </a:extLst>
          </p:cNvPr>
          <p:cNvPicPr>
            <a:picLocks noGrp="1" noChangeAspect="1"/>
          </p:cNvPicPr>
          <p:nvPr>
            <p:ph sz="quarter" idx="1"/>
          </p:nvPr>
        </p:nvPicPr>
        <p:blipFill>
          <a:blip r:embed="rId2"/>
          <a:stretch>
            <a:fillRect/>
          </a:stretch>
        </p:blipFill>
        <p:spPr>
          <a:xfrm>
            <a:off x="409407" y="962169"/>
            <a:ext cx="2489242" cy="3703638"/>
          </a:xfrm>
        </p:spPr>
      </p:pic>
      <p:pic>
        <p:nvPicPr>
          <p:cNvPr id="18" name="Picture 17">
            <a:extLst>
              <a:ext uri="{FF2B5EF4-FFF2-40B4-BE49-F238E27FC236}">
                <a16:creationId xmlns:a16="http://schemas.microsoft.com/office/drawing/2014/main" id="{8591AA1E-2F91-86E6-0A2C-B9E78589309D}"/>
              </a:ext>
            </a:extLst>
          </p:cNvPr>
          <p:cNvPicPr>
            <a:picLocks noChangeAspect="1"/>
          </p:cNvPicPr>
          <p:nvPr/>
        </p:nvPicPr>
        <p:blipFill>
          <a:blip r:embed="rId3"/>
          <a:stretch>
            <a:fillRect/>
          </a:stretch>
        </p:blipFill>
        <p:spPr>
          <a:xfrm>
            <a:off x="2998449" y="1003516"/>
            <a:ext cx="2589043" cy="3703638"/>
          </a:xfrm>
          <a:prstGeom prst="rect">
            <a:avLst/>
          </a:prstGeom>
        </p:spPr>
      </p:pic>
      <p:pic>
        <p:nvPicPr>
          <p:cNvPr id="20" name="Picture 19">
            <a:extLst>
              <a:ext uri="{FF2B5EF4-FFF2-40B4-BE49-F238E27FC236}">
                <a16:creationId xmlns:a16="http://schemas.microsoft.com/office/drawing/2014/main" id="{4365901E-0BE5-FDBE-684F-3FA51094FD3D}"/>
              </a:ext>
            </a:extLst>
          </p:cNvPr>
          <p:cNvPicPr>
            <a:picLocks noChangeAspect="1"/>
          </p:cNvPicPr>
          <p:nvPr/>
        </p:nvPicPr>
        <p:blipFill>
          <a:blip r:embed="rId4"/>
          <a:stretch>
            <a:fillRect/>
          </a:stretch>
        </p:blipFill>
        <p:spPr>
          <a:xfrm>
            <a:off x="5687293" y="1003515"/>
            <a:ext cx="2812472" cy="3703639"/>
          </a:xfrm>
          <a:prstGeom prst="rect">
            <a:avLst/>
          </a:prstGeom>
        </p:spPr>
      </p:pic>
    </p:spTree>
    <p:extLst>
      <p:ext uri="{BB962C8B-B14F-4D97-AF65-F5344CB8AC3E}">
        <p14:creationId xmlns:p14="http://schemas.microsoft.com/office/powerpoint/2010/main" val="3567389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41377AE-5B94-C1F2-E1C0-17E77BBFB9DA}"/>
              </a:ext>
            </a:extLst>
          </p:cNvPr>
          <p:cNvSpPr>
            <a:spLocks noGrp="1"/>
          </p:cNvSpPr>
          <p:nvPr>
            <p:ph type="title"/>
          </p:nvPr>
        </p:nvSpPr>
        <p:spPr>
          <a:solidFill>
            <a:schemeClr val="bg2">
              <a:lumMod val="75000"/>
            </a:schemeClr>
          </a:solidFill>
        </p:spPr>
        <p:txBody>
          <a:bodyPr>
            <a:normAutofit fontScale="90000"/>
          </a:bodyPr>
          <a:lstStyle/>
          <a:p>
            <a:pPr algn="ctr"/>
            <a:r>
              <a:rPr lang="en-IN" sz="4400" b="1" dirty="0">
                <a:solidFill>
                  <a:schemeClr val="tx1"/>
                </a:solidFill>
                <a:latin typeface="Times New Roman" pitchFamily="18" charset="0"/>
                <a:cs typeface="Times New Roman" pitchFamily="18" charset="0"/>
              </a:rPr>
              <a:t>Thank  You</a:t>
            </a:r>
            <a:endParaRPr lang="en-IN" sz="4000" b="1" dirty="0">
              <a:solidFill>
                <a:schemeClr val="tx1"/>
              </a:solidFill>
              <a:latin typeface="Times New Roman" pitchFamily="18" charset="0"/>
              <a:cs typeface="Times New Roman" pitchFamily="18" charset="0"/>
            </a:endParaRPr>
          </a:p>
        </p:txBody>
      </p:sp>
      <p:sp>
        <p:nvSpPr>
          <p:cNvPr id="3" name="Footer Placeholder 2">
            <a:extLst>
              <a:ext uri="{FF2B5EF4-FFF2-40B4-BE49-F238E27FC236}">
                <a16:creationId xmlns:a16="http://schemas.microsoft.com/office/drawing/2014/main" id="{BA3FD61F-805B-E389-F2B7-0A0B2F9D8150}"/>
              </a:ext>
            </a:extLst>
          </p:cNvPr>
          <p:cNvSpPr>
            <a:spLocks noGrp="1"/>
          </p:cNvSpPr>
          <p:nvPr>
            <p:ph type="ftr" sz="quarter" idx="11"/>
          </p:nvPr>
        </p:nvSpPr>
        <p:spPr>
          <a:xfrm>
            <a:off x="2971800" y="4767263"/>
            <a:ext cx="4111752" cy="376237"/>
          </a:xfrm>
        </p:spPr>
        <p:txBody>
          <a:bodyPr/>
          <a:lstStyle/>
          <a:p>
            <a:pPr>
              <a:defRPr/>
            </a:pPr>
            <a:r>
              <a:rPr lang="en-US" sz="1200" dirty="0">
                <a:latin typeface="Times New Roman" pitchFamily="18" charset="0"/>
                <a:cs typeface="Times New Roman" pitchFamily="18" charset="0"/>
              </a:rPr>
              <a:t>EGB1201 – JAVA PROGRAMMING –PROJECT REVIEW 3 </a:t>
            </a:r>
          </a:p>
        </p:txBody>
      </p:sp>
      <p:sp>
        <p:nvSpPr>
          <p:cNvPr id="4" name="Slide Number Placeholder 3">
            <a:extLst>
              <a:ext uri="{FF2B5EF4-FFF2-40B4-BE49-F238E27FC236}">
                <a16:creationId xmlns:a16="http://schemas.microsoft.com/office/drawing/2014/main" id="{1DB88336-4666-251E-4707-607718066E56}"/>
              </a:ext>
            </a:extLst>
          </p:cNvPr>
          <p:cNvSpPr>
            <a:spLocks noGrp="1"/>
          </p:cNvSpPr>
          <p:nvPr>
            <p:ph type="sldNum" sz="quarter" idx="12"/>
          </p:nvPr>
        </p:nvSpPr>
        <p:spPr/>
        <p:txBody>
          <a:bodyPr/>
          <a:lstStyle/>
          <a:p>
            <a:pPr>
              <a:defRPr/>
            </a:pPr>
            <a:fld id="{4CE540F1-D866-4735-9E65-A1952EADD02D}" type="slidenum">
              <a:rPr lang="en-US" altLang="en-US" smtClean="0"/>
              <a:pPr>
                <a:defRPr/>
              </a:pPr>
              <a:t>18</a:t>
            </a:fld>
            <a:endParaRPr lang="en-US" altLang="en-US" dirty="0"/>
          </a:p>
        </p:txBody>
      </p:sp>
      <p:sp>
        <p:nvSpPr>
          <p:cNvPr id="6" name="Title 1">
            <a:extLst>
              <a:ext uri="{FF2B5EF4-FFF2-40B4-BE49-F238E27FC236}">
                <a16:creationId xmlns:a16="http://schemas.microsoft.com/office/drawing/2014/main" id="{C622646B-3CDF-929A-2318-D91165119579}"/>
              </a:ext>
            </a:extLst>
          </p:cNvPr>
          <p:cNvSpPr txBox="1">
            <a:spLocks/>
          </p:cNvSpPr>
          <p:nvPr/>
        </p:nvSpPr>
        <p:spPr>
          <a:xfrm>
            <a:off x="0" y="2099871"/>
            <a:ext cx="9144000" cy="1664258"/>
          </a:xfrm>
          <a:prstGeom prst="rect">
            <a:avLst/>
          </a:prstGeom>
          <a:solidFill>
            <a:schemeClr val="accent3">
              <a:lumMod val="40000"/>
              <a:lumOff val="60000"/>
            </a:schemeClr>
          </a:solidFill>
        </p:spPr>
        <p:txBody>
          <a:bodyPr>
            <a:normAutofit/>
          </a:bodyPr>
          <a:lstStyle>
            <a:lvl1pPr algn="l" defTabSz="34290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defRPr/>
            </a:pPr>
            <a:endParaRPr lang="en-IN" sz="3600" dirty="0"/>
          </a:p>
          <a:p>
            <a:pPr algn="ctr">
              <a:defRPr/>
            </a:pPr>
            <a:r>
              <a:rPr lang="en-IN" sz="3600" b="1" dirty="0">
                <a:solidFill>
                  <a:schemeClr val="tx1"/>
                </a:solidFill>
                <a:latin typeface="Times New Roman" pitchFamily="18" charset="0"/>
                <a:cs typeface="Times New Roman" pitchFamily="18" charset="0"/>
              </a:rPr>
              <a:t>Any queries??? </a:t>
            </a:r>
          </a:p>
        </p:txBody>
      </p:sp>
    </p:spTree>
    <p:extLst>
      <p:ext uri="{BB962C8B-B14F-4D97-AF65-F5344CB8AC3E}">
        <p14:creationId xmlns:p14="http://schemas.microsoft.com/office/powerpoint/2010/main" val="42811373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TotalTime>
  <Words>1424</Words>
  <Application>Microsoft Office PowerPoint</Application>
  <PresentationFormat>On-screen Show (16:9)</PresentationFormat>
  <Paragraphs>173</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Bookman Old Style</vt:lpstr>
      <vt:lpstr>Calibri</vt:lpstr>
      <vt:lpstr>Gill Sans MT</vt:lpstr>
      <vt:lpstr>Times New Roman</vt:lpstr>
      <vt:lpstr>Wingdings</vt:lpstr>
      <vt:lpstr>Wingdings 3</vt:lpstr>
      <vt:lpstr>Origin</vt:lpstr>
      <vt:lpstr>EGB1201 – JAVA PROGRAMMING PROJECT REVIEW-2</vt:lpstr>
      <vt:lpstr>Title of the Project</vt:lpstr>
      <vt:lpstr>Abstract </vt:lpstr>
      <vt:lpstr>Abstract with CO/PO Mapping</vt:lpstr>
      <vt:lpstr>Introduction</vt:lpstr>
      <vt:lpstr>Java Programming  - Concepts Used</vt:lpstr>
      <vt:lpstr>Proposed Architecture</vt:lpstr>
      <vt:lpstr>Proposed Architecture - Description</vt:lpstr>
      <vt:lpstr>Proposed Architecture  - Description (Cont..)</vt:lpstr>
      <vt:lpstr>List of Modules</vt:lpstr>
      <vt:lpstr>Module Description</vt:lpstr>
      <vt:lpstr>Module Description (Cont..)</vt:lpstr>
      <vt:lpstr>Results and Discussion</vt:lpstr>
      <vt:lpstr>Results and Discussion (Cont..)</vt:lpstr>
      <vt:lpstr>Conclusion</vt:lpstr>
      <vt:lpstr>CODING</vt:lpstr>
      <vt:lpstr>CODING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kamalesh8q@gmail.com</cp:lastModifiedBy>
  <cp:revision>3</cp:revision>
  <dcterms:modified xsi:type="dcterms:W3CDTF">2025-11-22T05:10:29Z</dcterms:modified>
</cp:coreProperties>
</file>